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VerionX exists to equip people with know-how to maximise their potential. Two products, one ladder: Ulo builds the foundation, UloX builds the frontier skill — agentic engineering.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capability gap has moved. Access to AI is solved; reliability is not. That is the gap UloX is built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mission and vision are the spine. Every product decision answers to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continuous ladder from a child in a Nigerian classroom to an engineer shipping agents. Ulo and UloX are two rungs of the same system, not two companies.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chess analogy is the fastest way in: you do not learn chess by reading about chess. UloX hands you broken systems and a real engine that scores your repair.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ITOLS is the IP. Five layers, three sub-layers each — fifteen checkable things where there used to be a paragraph of hope. Created by Elijah Moses; proprietary to VerionX.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learning loop, and the integrity model behind the certificate.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Ulo traction is real and already counted. UloX platform depth is what is shipped and verifiable today at the URL.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markets stacked: the EdTech base Ulo already sells into, and the AI-skills gap UloX is built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ask is unchanged in size; this slide shows where UloX sits inside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mission, and send them to the live product.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0F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EE1B24"/>
          </a:solidFill>
          <a:ln/>
        </p:spPr>
      </p:sp>
      <p:sp>
        <p:nvSpPr>
          <p:cNvPr id="4" name="Text 2"/>
          <p:cNvSpPr/>
          <p:nvPr/>
        </p:nvSpPr>
        <p:spPr>
          <a:xfrm>
            <a:off x="711200" y="1470660"/>
            <a:ext cx="6604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b="1" spc="240" kern="0" dirty="0">
                <a:solidFill>
                  <a:srgbClr val="EE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VerionX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11200" y="1789176"/>
            <a:ext cx="8128000" cy="23262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the workforce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711200" y="2500376"/>
            <a:ext cx="8128000" cy="23262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5400" b="1" dirty="0">
                <a:solidFill>
                  <a:srgbClr val="EE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the future.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711200" y="3756660"/>
            <a:ext cx="711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exist to equip people with know-how to maximise their potential on earth.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11200" y="4521200"/>
            <a:ext cx="1524000" cy="0"/>
          </a:xfrm>
          <a:prstGeom prst="line">
            <a:avLst/>
          </a:prstGeom>
          <a:noFill/>
          <a:ln w="25400">
            <a:solidFill>
              <a:srgbClr val="EE1B2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1200" y="4740148"/>
            <a:ext cx="7112000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UloX — mastering the utility of AI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11200" y="5088128"/>
            <a:ext cx="711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agentic engineering trainer. Live now.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11200" y="5697728"/>
            <a:ext cx="711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EE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www.ulox.verionx.org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245600" y="1524000"/>
            <a:ext cx="279400" cy="3810000"/>
          </a:xfrm>
          <a:prstGeom prst="roundRect">
            <a:avLst>
              <a:gd name="adj" fmla="val 13636"/>
            </a:avLst>
          </a:prstGeom>
          <a:solidFill>
            <a:srgbClr val="3FD0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77400" y="1524000"/>
            <a:ext cx="279400" cy="3810000"/>
          </a:xfrm>
          <a:prstGeom prst="roundRect">
            <a:avLst>
              <a:gd name="adj" fmla="val 13636"/>
            </a:avLst>
          </a:prstGeom>
          <a:solidFill>
            <a:srgbClr val="52C98B"/>
          </a:solidFill>
          <a:ln/>
        </p:spPr>
      </p:sp>
      <p:sp>
        <p:nvSpPr>
          <p:cNvPr id="14" name="Shape 12"/>
          <p:cNvSpPr/>
          <p:nvPr/>
        </p:nvSpPr>
        <p:spPr>
          <a:xfrm>
            <a:off x="10109200" y="1524000"/>
            <a:ext cx="279400" cy="3810000"/>
          </a:xfrm>
          <a:prstGeom prst="roundRect">
            <a:avLst>
              <a:gd name="adj" fmla="val 13636"/>
            </a:avLst>
          </a:prstGeom>
          <a:solidFill>
            <a:srgbClr val="4EA8F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541000" y="1524000"/>
            <a:ext cx="279400" cy="3810000"/>
          </a:xfrm>
          <a:prstGeom prst="roundRect">
            <a:avLst>
              <a:gd name="adj" fmla="val 13636"/>
            </a:avLst>
          </a:prstGeom>
          <a:solidFill>
            <a:srgbClr val="7B8EF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972800" y="1524000"/>
            <a:ext cx="279400" cy="3810000"/>
          </a:xfrm>
          <a:prstGeom prst="roundRect">
            <a:avLst>
              <a:gd name="adj" fmla="val 13636"/>
            </a:avLst>
          </a:prstGeom>
          <a:solidFill>
            <a:srgbClr val="9B7BF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04600" y="1524000"/>
            <a:ext cx="279400" cy="3810000"/>
          </a:xfrm>
          <a:prstGeom prst="roundRect">
            <a:avLst>
              <a:gd name="adj" fmla="val 13636"/>
            </a:avLst>
          </a:prstGeom>
          <a:solidFill>
            <a:srgbClr val="B57BFF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0" y="5552440"/>
            <a:ext cx="2794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717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disciplines. One ladder.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686800" y="5755640"/>
            <a:ext cx="2794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717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→ Agentic engineering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0F11"/>
          </a:solidFill>
          <a:ln/>
        </p:spPr>
      </p:sp>
      <p:sp>
        <p:nvSpPr>
          <p:cNvPr id="3" name="Text 1"/>
          <p:cNvSpPr/>
          <p:nvPr/>
        </p:nvSpPr>
        <p:spPr>
          <a:xfrm>
            <a:off x="711200" y="546862"/>
            <a:ext cx="10769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b="1" spc="160" kern="0" dirty="0">
                <a:solidFill>
                  <a:srgbClr val="EE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— THE SHIFT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711200" y="756920"/>
            <a:ext cx="10769600" cy="1824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Everyone can call a model.</a:t>
            </a:r>
            <a:endParaRPr lang="en-US" sz="300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Almost nobody can make one reliable.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11200" y="2489200"/>
            <a:ext cx="3437467" cy="1625600"/>
          </a:xfrm>
          <a:prstGeom prst="roundRect">
            <a:avLst>
              <a:gd name="adj" fmla="val 6250"/>
            </a:avLst>
          </a:prstGeom>
          <a:solidFill>
            <a:srgbClr val="17181B"/>
          </a:solidFill>
          <a:ln/>
        </p:spPr>
      </p:sp>
      <p:sp>
        <p:nvSpPr>
          <p:cNvPr id="6" name="Shape 4"/>
          <p:cNvSpPr/>
          <p:nvPr/>
        </p:nvSpPr>
        <p:spPr>
          <a:xfrm>
            <a:off x="711200" y="2489200"/>
            <a:ext cx="38100" cy="1625600"/>
          </a:xfrm>
          <a:prstGeom prst="rect">
            <a:avLst/>
          </a:prstGeom>
          <a:solidFill>
            <a:srgbClr val="2B2E32"/>
          </a:solidFill>
          <a:ln/>
        </p:spPr>
      </p:sp>
      <p:sp>
        <p:nvSpPr>
          <p:cNvPr id="7" name="Shape 5"/>
          <p:cNvSpPr/>
          <p:nvPr/>
        </p:nvSpPr>
        <p:spPr>
          <a:xfrm>
            <a:off x="711200" y="2489200"/>
            <a:ext cx="38100" cy="1625600"/>
          </a:xfrm>
          <a:prstGeom prst="rect">
            <a:avLst/>
          </a:prstGeom>
          <a:solidFill>
            <a:srgbClr val="EE1B24"/>
          </a:solidFill>
          <a:ln/>
        </p:spPr>
      </p:sp>
      <p:sp>
        <p:nvSpPr>
          <p:cNvPr id="8" name="Text 6"/>
          <p:cNvSpPr/>
          <p:nvPr/>
        </p:nvSpPr>
        <p:spPr>
          <a:xfrm>
            <a:off x="965200" y="2689860"/>
            <a:ext cx="2929467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EE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 is solved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65200" y="3059684"/>
            <a:ext cx="2929467" cy="648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model is three lines of code and a key. The hard part moved somewhere else.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77267" y="2489200"/>
            <a:ext cx="3437467" cy="1625600"/>
          </a:xfrm>
          <a:prstGeom prst="roundRect">
            <a:avLst>
              <a:gd name="adj" fmla="val 6250"/>
            </a:avLst>
          </a:prstGeom>
          <a:solidFill>
            <a:srgbClr val="17181B"/>
          </a:solidFill>
          <a:ln/>
        </p:spPr>
      </p:sp>
      <p:sp>
        <p:nvSpPr>
          <p:cNvPr id="11" name="Shape 9"/>
          <p:cNvSpPr/>
          <p:nvPr/>
        </p:nvSpPr>
        <p:spPr>
          <a:xfrm>
            <a:off x="4377267" y="2489200"/>
            <a:ext cx="38100" cy="1625600"/>
          </a:xfrm>
          <a:prstGeom prst="rect">
            <a:avLst/>
          </a:prstGeom>
          <a:solidFill>
            <a:srgbClr val="2B2E32"/>
          </a:solidFill>
          <a:ln/>
        </p:spPr>
      </p:sp>
      <p:sp>
        <p:nvSpPr>
          <p:cNvPr id="12" name="Shape 10"/>
          <p:cNvSpPr/>
          <p:nvPr/>
        </p:nvSpPr>
        <p:spPr>
          <a:xfrm>
            <a:off x="4377267" y="2489200"/>
            <a:ext cx="38100" cy="1625600"/>
          </a:xfrm>
          <a:prstGeom prst="rect">
            <a:avLst/>
          </a:prstGeom>
          <a:solidFill>
            <a:srgbClr val="F5A524"/>
          </a:solidFill>
          <a:ln/>
        </p:spPr>
      </p:sp>
      <p:sp>
        <p:nvSpPr>
          <p:cNvPr id="13" name="Text 11"/>
          <p:cNvSpPr/>
          <p:nvPr/>
        </p:nvSpPr>
        <p:spPr>
          <a:xfrm>
            <a:off x="4631267" y="2689860"/>
            <a:ext cx="2929467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Reliability is not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631267" y="3059684"/>
            <a:ext cx="2929467" cy="648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stall, loop, leak and overspend. Most teams find out in production.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043333" y="2489200"/>
            <a:ext cx="3437467" cy="1625600"/>
          </a:xfrm>
          <a:prstGeom prst="roundRect">
            <a:avLst>
              <a:gd name="adj" fmla="val 6250"/>
            </a:avLst>
          </a:prstGeom>
          <a:solidFill>
            <a:srgbClr val="17181B"/>
          </a:solidFill>
          <a:ln/>
        </p:spPr>
      </p:sp>
      <p:sp>
        <p:nvSpPr>
          <p:cNvPr id="16" name="Shape 14"/>
          <p:cNvSpPr/>
          <p:nvPr/>
        </p:nvSpPr>
        <p:spPr>
          <a:xfrm>
            <a:off x="8043333" y="2489200"/>
            <a:ext cx="38100" cy="1625600"/>
          </a:xfrm>
          <a:prstGeom prst="rect">
            <a:avLst/>
          </a:prstGeom>
          <a:solidFill>
            <a:srgbClr val="2B2E32"/>
          </a:solidFill>
          <a:ln/>
        </p:spPr>
      </p:sp>
      <p:sp>
        <p:nvSpPr>
          <p:cNvPr id="17" name="Shape 15"/>
          <p:cNvSpPr/>
          <p:nvPr/>
        </p:nvSpPr>
        <p:spPr>
          <a:xfrm>
            <a:off x="8043333" y="2489200"/>
            <a:ext cx="38100" cy="1625600"/>
          </a:xfrm>
          <a:prstGeom prst="rect">
            <a:avLst/>
          </a:prstGeom>
          <a:solidFill>
            <a:srgbClr val="4EA8FF"/>
          </a:solidFill>
          <a:ln/>
        </p:spPr>
      </p:sp>
      <p:sp>
        <p:nvSpPr>
          <p:cNvPr id="18" name="Text 16"/>
          <p:cNvSpPr/>
          <p:nvPr/>
        </p:nvSpPr>
        <p:spPr>
          <a:xfrm>
            <a:off x="8297333" y="2689860"/>
            <a:ext cx="2929467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4E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is teaching it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297333" y="3059684"/>
            <a:ext cx="2929467" cy="648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Courses stop at the prompt. The other five disciplines go untaught.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11200" y="4419600"/>
            <a:ext cx="10769600" cy="1244600"/>
          </a:xfrm>
          <a:prstGeom prst="roundRect">
            <a:avLst>
              <a:gd name="adj" fmla="val 8163"/>
            </a:avLst>
          </a:prstGeom>
          <a:solidFill>
            <a:srgbClr val="1E2024"/>
          </a:solidFill>
          <a:ln/>
        </p:spPr>
      </p:sp>
      <p:sp>
        <p:nvSpPr>
          <p:cNvPr id="21" name="Text 19"/>
          <p:cNvSpPr/>
          <p:nvPr/>
        </p:nvSpPr>
        <p:spPr>
          <a:xfrm>
            <a:off x="1016000" y="4639818"/>
            <a:ext cx="3810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b="1" spc="120" kern="0" dirty="0">
                <a:solidFill>
                  <a:srgbClr val="717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COST OF GETTING IT WRONG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1016000" y="4853432"/>
            <a:ext cx="3234267" cy="142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1016000" y="5349240"/>
            <a:ext cx="3234267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disciplines behind a reliable agent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478867" y="4853432"/>
            <a:ext cx="3234267" cy="142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800" b="1" dirty="0">
                <a:solidFill>
                  <a:srgbClr val="EE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4478867" y="5349240"/>
            <a:ext cx="3234267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them is what most training covers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941733" y="4853432"/>
            <a:ext cx="3234267" cy="142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800" b="1" dirty="0">
                <a:solidFill>
                  <a:srgbClr val="3FD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2800" dirty="0"/>
          </a:p>
        </p:txBody>
      </p:sp>
      <p:sp>
        <p:nvSpPr>
          <p:cNvPr id="27" name="Text 25"/>
          <p:cNvSpPr/>
          <p:nvPr/>
        </p:nvSpPr>
        <p:spPr>
          <a:xfrm>
            <a:off x="7941733" y="5349240"/>
            <a:ext cx="3234267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ways an agent breaks, each drilled in UloX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1200" y="6299200"/>
            <a:ext cx="10769600" cy="0"/>
          </a:xfrm>
          <a:prstGeom prst="line">
            <a:avLst/>
          </a:prstGeom>
          <a:noFill/>
          <a:ln w="12700">
            <a:solidFill>
              <a:srgbClr val="2B2E3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1200" y="6368796"/>
            <a:ext cx="508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spc="60" kern="0" dirty="0">
                <a:solidFill>
                  <a:srgbClr val="717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VerionX  ·  UloX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670800" y="6368796"/>
            <a:ext cx="381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717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www.ulox.verionx.org   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0F11"/>
          </a:solidFill>
          <a:ln/>
        </p:spPr>
      </p:sp>
      <p:sp>
        <p:nvSpPr>
          <p:cNvPr id="3" name="Text 1"/>
          <p:cNvSpPr/>
          <p:nvPr/>
        </p:nvSpPr>
        <p:spPr>
          <a:xfrm>
            <a:off x="711200" y="546862"/>
            <a:ext cx="10769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b="1" spc="160" kern="0" dirty="0">
                <a:solidFill>
                  <a:srgbClr val="EE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— WHY VERIONX EXISTS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711200" y="756920"/>
            <a:ext cx="10769600" cy="1824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mission. One vision.</a:t>
            </a:r>
            <a:endParaRPr lang="en-US" sz="300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products that serve both.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11200" y="2413000"/>
            <a:ext cx="5257800" cy="1905000"/>
          </a:xfrm>
          <a:prstGeom prst="roundRect">
            <a:avLst>
              <a:gd name="adj" fmla="val 5333"/>
            </a:avLst>
          </a:prstGeom>
          <a:solidFill>
            <a:srgbClr val="17181B"/>
          </a:solidFill>
          <a:ln/>
        </p:spPr>
      </p:sp>
      <p:sp>
        <p:nvSpPr>
          <p:cNvPr id="6" name="Shape 4"/>
          <p:cNvSpPr/>
          <p:nvPr/>
        </p:nvSpPr>
        <p:spPr>
          <a:xfrm>
            <a:off x="711200" y="2413000"/>
            <a:ext cx="38100" cy="1905000"/>
          </a:xfrm>
          <a:prstGeom prst="rect">
            <a:avLst/>
          </a:prstGeom>
          <a:solidFill>
            <a:srgbClr val="EE1B24"/>
          </a:solidFill>
          <a:ln/>
        </p:spPr>
      </p:sp>
      <p:sp>
        <p:nvSpPr>
          <p:cNvPr id="7" name="Text 5"/>
          <p:cNvSpPr/>
          <p:nvPr/>
        </p:nvSpPr>
        <p:spPr>
          <a:xfrm>
            <a:off x="1016000" y="2633218"/>
            <a:ext cx="4572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b="1" spc="140" kern="0" dirty="0">
                <a:solidFill>
                  <a:srgbClr val="EE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016000" y="2893060"/>
            <a:ext cx="4648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exist to equip people with know-how to maximise their potential on earth.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23000" y="2413000"/>
            <a:ext cx="5257800" cy="1905000"/>
          </a:xfrm>
          <a:prstGeom prst="roundRect">
            <a:avLst>
              <a:gd name="adj" fmla="val 5333"/>
            </a:avLst>
          </a:prstGeom>
          <a:solidFill>
            <a:srgbClr val="17181B"/>
          </a:solidFill>
          <a:ln/>
        </p:spPr>
      </p:sp>
      <p:sp>
        <p:nvSpPr>
          <p:cNvPr id="10" name="Shape 8"/>
          <p:cNvSpPr/>
          <p:nvPr/>
        </p:nvSpPr>
        <p:spPr>
          <a:xfrm>
            <a:off x="6223000" y="2413000"/>
            <a:ext cx="38100" cy="1905000"/>
          </a:xfrm>
          <a:prstGeom prst="rect">
            <a:avLst/>
          </a:prstGeom>
          <a:solidFill>
            <a:srgbClr val="7B8EFF"/>
          </a:solidFill>
          <a:ln/>
        </p:spPr>
      </p:sp>
      <p:sp>
        <p:nvSpPr>
          <p:cNvPr id="11" name="Text 9"/>
          <p:cNvSpPr/>
          <p:nvPr/>
        </p:nvSpPr>
        <p:spPr>
          <a:xfrm>
            <a:off x="6527800" y="2633218"/>
            <a:ext cx="4572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b="1" spc="140" kern="0" dirty="0">
                <a:solidFill>
                  <a:srgbClr val="7B8E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VISION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527800" y="2893060"/>
            <a:ext cx="4648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the workforce for the future.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11200" y="4690618"/>
            <a:ext cx="107696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b="1" spc="130" kern="0" dirty="0">
                <a:solidFill>
                  <a:srgbClr val="717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THAT BECOMES PRODUCT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711200" y="5003800"/>
            <a:ext cx="5257800" cy="889000"/>
          </a:xfrm>
          <a:prstGeom prst="roundRect">
            <a:avLst>
              <a:gd name="adj" fmla="val 11429"/>
            </a:avLst>
          </a:prstGeom>
          <a:solidFill>
            <a:srgbClr val="17181B"/>
          </a:solidFill>
          <a:ln/>
        </p:spPr>
      </p:sp>
      <p:sp>
        <p:nvSpPr>
          <p:cNvPr id="15" name="Shape 13"/>
          <p:cNvSpPr/>
          <p:nvPr/>
        </p:nvSpPr>
        <p:spPr>
          <a:xfrm>
            <a:off x="711200" y="5003800"/>
            <a:ext cx="38100" cy="889000"/>
          </a:xfrm>
          <a:prstGeom prst="rect">
            <a:avLst/>
          </a:prstGeom>
          <a:solidFill>
            <a:srgbClr val="2B2E32"/>
          </a:solidFill>
          <a:ln/>
        </p:spPr>
      </p:sp>
      <p:sp>
        <p:nvSpPr>
          <p:cNvPr id="16" name="Text 14"/>
          <p:cNvSpPr/>
          <p:nvPr/>
        </p:nvSpPr>
        <p:spPr>
          <a:xfrm>
            <a:off x="965200" y="5160772"/>
            <a:ext cx="47498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Ulo — the foundation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65200" y="5449062"/>
            <a:ext cx="4749800" cy="597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Gamified learning for school-age Nigeria. Learn, play, practise, prove, earn.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223000" y="5003800"/>
            <a:ext cx="5257800" cy="889000"/>
          </a:xfrm>
          <a:prstGeom prst="roundRect">
            <a:avLst>
              <a:gd name="adj" fmla="val 11429"/>
            </a:avLst>
          </a:prstGeom>
          <a:solidFill>
            <a:srgbClr val="17181B"/>
          </a:solidFill>
          <a:ln/>
        </p:spPr>
      </p:sp>
      <p:sp>
        <p:nvSpPr>
          <p:cNvPr id="19" name="Shape 17"/>
          <p:cNvSpPr/>
          <p:nvPr/>
        </p:nvSpPr>
        <p:spPr>
          <a:xfrm>
            <a:off x="6223000" y="5003800"/>
            <a:ext cx="38100" cy="889000"/>
          </a:xfrm>
          <a:prstGeom prst="rect">
            <a:avLst/>
          </a:prstGeom>
          <a:solidFill>
            <a:srgbClr val="2B2E32"/>
          </a:solidFill>
          <a:ln/>
        </p:spPr>
      </p:sp>
      <p:sp>
        <p:nvSpPr>
          <p:cNvPr id="20" name="Text 18"/>
          <p:cNvSpPr/>
          <p:nvPr/>
        </p:nvSpPr>
        <p:spPr>
          <a:xfrm>
            <a:off x="6477000" y="5160772"/>
            <a:ext cx="47498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EE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UloX — the frontier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77000" y="5449062"/>
            <a:ext cx="4749800" cy="597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engineering for the people who will build and run AI systems.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11200" y="6299200"/>
            <a:ext cx="10769600" cy="0"/>
          </a:xfrm>
          <a:prstGeom prst="line">
            <a:avLst/>
          </a:prstGeom>
          <a:noFill/>
          <a:ln w="12700">
            <a:solidFill>
              <a:srgbClr val="2B2E3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11200" y="6368796"/>
            <a:ext cx="508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spc="60" kern="0" dirty="0">
                <a:solidFill>
                  <a:srgbClr val="717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VerionX  ·  UloX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670800" y="6368796"/>
            <a:ext cx="381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717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www.ulox.verionx.org   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0F11"/>
          </a:solidFill>
          <a:ln/>
        </p:spPr>
      </p:sp>
      <p:sp>
        <p:nvSpPr>
          <p:cNvPr id="3" name="Text 1"/>
          <p:cNvSpPr/>
          <p:nvPr/>
        </p:nvSpPr>
        <p:spPr>
          <a:xfrm>
            <a:off x="711200" y="546862"/>
            <a:ext cx="10769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b="1" spc="160" kern="0" dirty="0">
                <a:solidFill>
                  <a:srgbClr val="EE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— THE VERIONX SYSTEM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711200" y="756920"/>
            <a:ext cx="10769600" cy="1824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ladder, from first lesson</a:t>
            </a:r>
            <a:endParaRPr lang="en-US" sz="300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shipping an AI system.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11200" y="2489200"/>
            <a:ext cx="2011680" cy="1422400"/>
          </a:xfrm>
          <a:prstGeom prst="roundRect">
            <a:avLst>
              <a:gd name="adj" fmla="val 7143"/>
            </a:avLst>
          </a:prstGeom>
          <a:solidFill>
            <a:srgbClr val="17181B"/>
          </a:solidFill>
          <a:ln/>
        </p:spPr>
      </p:sp>
      <p:sp>
        <p:nvSpPr>
          <p:cNvPr id="6" name="Shape 4"/>
          <p:cNvSpPr/>
          <p:nvPr/>
        </p:nvSpPr>
        <p:spPr>
          <a:xfrm>
            <a:off x="711200" y="2489200"/>
            <a:ext cx="2011680" cy="50800"/>
          </a:xfrm>
          <a:prstGeom prst="rect">
            <a:avLst/>
          </a:prstGeom>
          <a:solidFill>
            <a:srgbClr val="F5A524"/>
          </a:solidFill>
          <a:ln/>
        </p:spPr>
      </p:sp>
      <p:sp>
        <p:nvSpPr>
          <p:cNvPr id="7" name="Text 5"/>
          <p:cNvSpPr/>
          <p:nvPr/>
        </p:nvSpPr>
        <p:spPr>
          <a:xfrm>
            <a:off x="889000" y="2673350"/>
            <a:ext cx="165608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89000" y="2939796"/>
            <a:ext cx="165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b="1" spc="100" kern="0" dirty="0">
                <a:solidFill>
                  <a:srgbClr val="717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Ulo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89000" y="3190240"/>
            <a:ext cx="1656080" cy="56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Lessons become play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735580" y="3045460"/>
            <a:ext cx="1524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717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2900680" y="2489200"/>
            <a:ext cx="2011680" cy="1422400"/>
          </a:xfrm>
          <a:prstGeom prst="roundRect">
            <a:avLst>
              <a:gd name="adj" fmla="val 7143"/>
            </a:avLst>
          </a:prstGeom>
          <a:solidFill>
            <a:srgbClr val="17181B"/>
          </a:solidFill>
          <a:ln/>
        </p:spPr>
      </p:sp>
      <p:sp>
        <p:nvSpPr>
          <p:cNvPr id="12" name="Shape 10"/>
          <p:cNvSpPr/>
          <p:nvPr/>
        </p:nvSpPr>
        <p:spPr>
          <a:xfrm>
            <a:off x="2900680" y="2489200"/>
            <a:ext cx="2011680" cy="50800"/>
          </a:xfrm>
          <a:prstGeom prst="rect">
            <a:avLst/>
          </a:prstGeom>
          <a:solidFill>
            <a:srgbClr val="F5A524"/>
          </a:solidFill>
          <a:ln/>
        </p:spPr>
      </p:sp>
      <p:sp>
        <p:nvSpPr>
          <p:cNvPr id="13" name="Text 11"/>
          <p:cNvSpPr/>
          <p:nvPr/>
        </p:nvSpPr>
        <p:spPr>
          <a:xfrm>
            <a:off x="3078480" y="2673350"/>
            <a:ext cx="165608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PRACTISE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3078480" y="2939796"/>
            <a:ext cx="165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b="1" spc="100" kern="0" dirty="0">
                <a:solidFill>
                  <a:srgbClr val="717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Ulo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078480" y="3190240"/>
            <a:ext cx="1656080" cy="56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Challenges and streaks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925060" y="3045460"/>
            <a:ext cx="1524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717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090160" y="2489200"/>
            <a:ext cx="2011680" cy="1422400"/>
          </a:xfrm>
          <a:prstGeom prst="roundRect">
            <a:avLst>
              <a:gd name="adj" fmla="val 7143"/>
            </a:avLst>
          </a:prstGeom>
          <a:solidFill>
            <a:srgbClr val="17181B"/>
          </a:solidFill>
          <a:ln/>
        </p:spPr>
      </p:sp>
      <p:sp>
        <p:nvSpPr>
          <p:cNvPr id="18" name="Shape 16"/>
          <p:cNvSpPr/>
          <p:nvPr/>
        </p:nvSpPr>
        <p:spPr>
          <a:xfrm>
            <a:off x="5090160" y="2489200"/>
            <a:ext cx="2011680" cy="50800"/>
          </a:xfrm>
          <a:prstGeom prst="rect">
            <a:avLst/>
          </a:prstGeom>
          <a:solidFill>
            <a:srgbClr val="F5A524"/>
          </a:solidFill>
          <a:ln/>
        </p:spPr>
      </p:sp>
      <p:sp>
        <p:nvSpPr>
          <p:cNvPr id="19" name="Text 17"/>
          <p:cNvSpPr/>
          <p:nvPr/>
        </p:nvSpPr>
        <p:spPr>
          <a:xfrm>
            <a:off x="5267960" y="2673350"/>
            <a:ext cx="165608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267960" y="2939796"/>
            <a:ext cx="165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b="1" spc="100" kern="0" dirty="0">
                <a:solidFill>
                  <a:srgbClr val="717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Ulo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267960" y="3190240"/>
            <a:ext cx="1656080" cy="56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Skill, not completion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114540" y="3045460"/>
            <a:ext cx="1524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717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7279640" y="2489200"/>
            <a:ext cx="2011680" cy="1422400"/>
          </a:xfrm>
          <a:prstGeom prst="roundRect">
            <a:avLst>
              <a:gd name="adj" fmla="val 7143"/>
            </a:avLst>
          </a:prstGeom>
          <a:solidFill>
            <a:srgbClr val="17181B"/>
          </a:solidFill>
          <a:ln/>
        </p:spPr>
      </p:sp>
      <p:sp>
        <p:nvSpPr>
          <p:cNvPr id="24" name="Shape 22"/>
          <p:cNvSpPr/>
          <p:nvPr/>
        </p:nvSpPr>
        <p:spPr>
          <a:xfrm>
            <a:off x="7279640" y="2489200"/>
            <a:ext cx="2011680" cy="50800"/>
          </a:xfrm>
          <a:prstGeom prst="rect">
            <a:avLst/>
          </a:prstGeom>
          <a:solidFill>
            <a:srgbClr val="EE1B24"/>
          </a:solidFill>
          <a:ln/>
        </p:spPr>
      </p:sp>
      <p:sp>
        <p:nvSpPr>
          <p:cNvPr id="25" name="Text 23"/>
          <p:cNvSpPr/>
          <p:nvPr/>
        </p:nvSpPr>
        <p:spPr>
          <a:xfrm>
            <a:off x="7457440" y="2673350"/>
            <a:ext cx="165608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EE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7457440" y="2939796"/>
            <a:ext cx="165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b="1" spc="100" kern="0" dirty="0">
                <a:solidFill>
                  <a:srgbClr val="717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UloX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457440" y="3190240"/>
            <a:ext cx="1656080" cy="56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Repair broken agents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9304020" y="3045460"/>
            <a:ext cx="1524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717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9469120" y="2489200"/>
            <a:ext cx="2011680" cy="1422400"/>
          </a:xfrm>
          <a:prstGeom prst="roundRect">
            <a:avLst>
              <a:gd name="adj" fmla="val 7143"/>
            </a:avLst>
          </a:prstGeom>
          <a:solidFill>
            <a:srgbClr val="17181B"/>
          </a:solidFill>
          <a:ln/>
        </p:spPr>
      </p:sp>
      <p:sp>
        <p:nvSpPr>
          <p:cNvPr id="30" name="Shape 28"/>
          <p:cNvSpPr/>
          <p:nvPr/>
        </p:nvSpPr>
        <p:spPr>
          <a:xfrm>
            <a:off x="9469120" y="2489200"/>
            <a:ext cx="2011680" cy="50800"/>
          </a:xfrm>
          <a:prstGeom prst="rect">
            <a:avLst/>
          </a:prstGeom>
          <a:solidFill>
            <a:srgbClr val="EE1B24"/>
          </a:solidFill>
          <a:ln/>
        </p:spPr>
      </p:sp>
      <p:sp>
        <p:nvSpPr>
          <p:cNvPr id="31" name="Text 29"/>
          <p:cNvSpPr/>
          <p:nvPr/>
        </p:nvSpPr>
        <p:spPr>
          <a:xfrm>
            <a:off x="9646920" y="2673350"/>
            <a:ext cx="165608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EE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9646920" y="2939796"/>
            <a:ext cx="165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b="1" spc="100" kern="0" dirty="0">
                <a:solidFill>
                  <a:srgbClr val="717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UloX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9646920" y="3190240"/>
            <a:ext cx="1656080" cy="56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Bounded, observable systems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11200" y="4267200"/>
            <a:ext cx="10769600" cy="1422400"/>
          </a:xfrm>
          <a:prstGeom prst="roundRect">
            <a:avLst>
              <a:gd name="adj" fmla="val 7143"/>
            </a:avLst>
          </a:prstGeom>
          <a:solidFill>
            <a:srgbClr val="1E2024"/>
          </a:solidFill>
          <a:ln/>
        </p:spPr>
      </p:sp>
      <p:sp>
        <p:nvSpPr>
          <p:cNvPr id="35" name="Text 33"/>
          <p:cNvSpPr/>
          <p:nvPr/>
        </p:nvSpPr>
        <p:spPr>
          <a:xfrm>
            <a:off x="1016000" y="4487418"/>
            <a:ext cx="6604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b="1" spc="120" kern="0" dirty="0">
                <a:solidFill>
                  <a:srgbClr val="717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HOLDS THE TWO TOGETHER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1016000" y="4708144"/>
            <a:ext cx="5334000" cy="132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EE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ITOLS</a:t>
            </a:r>
            <a:endParaRPr lang="en-US" sz="2600" dirty="0"/>
          </a:p>
        </p:txBody>
      </p:sp>
      <p:sp>
        <p:nvSpPr>
          <p:cNvPr id="37" name="Text 35"/>
          <p:cNvSpPr/>
          <p:nvPr/>
        </p:nvSpPr>
        <p:spPr>
          <a:xfrm>
            <a:off x="1016000" y="5193284"/>
            <a:ext cx="5588000" cy="625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proprietary VerionX framework for writing an AI instruction you can actually test.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654800" y="4761484"/>
            <a:ext cx="452120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Ulo teaches people to learn. UloX teaches people to build. ITOLS is the common grammar underneath both — the thing a learner carries from one to the other.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711200" y="6299200"/>
            <a:ext cx="10769600" cy="0"/>
          </a:xfrm>
          <a:prstGeom prst="line">
            <a:avLst/>
          </a:prstGeom>
          <a:noFill/>
          <a:ln w="12700">
            <a:solidFill>
              <a:srgbClr val="2B2E32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11200" y="6368796"/>
            <a:ext cx="508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spc="60" kern="0" dirty="0">
                <a:solidFill>
                  <a:srgbClr val="717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VerionX  ·  UloX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7670800" y="6368796"/>
            <a:ext cx="381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717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www.ulox.verionx.org   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0F11"/>
          </a:solidFill>
          <a:ln/>
        </p:spPr>
      </p:sp>
      <p:sp>
        <p:nvSpPr>
          <p:cNvPr id="3" name="Text 1"/>
          <p:cNvSpPr/>
          <p:nvPr/>
        </p:nvSpPr>
        <p:spPr>
          <a:xfrm>
            <a:off x="711200" y="546862"/>
            <a:ext cx="10769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b="1" spc="160" kern="0" dirty="0">
                <a:solidFill>
                  <a:srgbClr val="EE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— ULOX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711200" y="756920"/>
            <a:ext cx="10769600" cy="1824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do not learn chess by</a:t>
            </a:r>
            <a:endParaRPr lang="en-US" sz="300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reading about chess.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11200" y="1985772"/>
            <a:ext cx="78740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UloX hands you agent systems that are already broken, and asks you to repair them.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11200" y="2616200"/>
            <a:ext cx="5257800" cy="1320800"/>
          </a:xfrm>
          <a:prstGeom prst="roundRect">
            <a:avLst>
              <a:gd name="adj" fmla="val 7692"/>
            </a:avLst>
          </a:prstGeom>
          <a:solidFill>
            <a:srgbClr val="17181B"/>
          </a:solidFill>
          <a:ln/>
        </p:spPr>
      </p:sp>
      <p:sp>
        <p:nvSpPr>
          <p:cNvPr id="7" name="Shape 5"/>
          <p:cNvSpPr/>
          <p:nvPr/>
        </p:nvSpPr>
        <p:spPr>
          <a:xfrm>
            <a:off x="711200" y="2616200"/>
            <a:ext cx="38100" cy="1320800"/>
          </a:xfrm>
          <a:prstGeom prst="rect">
            <a:avLst/>
          </a:prstGeom>
          <a:solidFill>
            <a:srgbClr val="2B2E32"/>
          </a:solidFill>
          <a:ln/>
        </p:spPr>
      </p:sp>
      <p:sp>
        <p:nvSpPr>
          <p:cNvPr id="8" name="Shape 6"/>
          <p:cNvSpPr/>
          <p:nvPr/>
        </p:nvSpPr>
        <p:spPr>
          <a:xfrm>
            <a:off x="711200" y="2616200"/>
            <a:ext cx="38100" cy="1320800"/>
          </a:xfrm>
          <a:prstGeom prst="rect">
            <a:avLst/>
          </a:prstGeom>
          <a:solidFill>
            <a:srgbClr val="3FD07A"/>
          </a:solidFill>
          <a:ln/>
        </p:spPr>
      </p:sp>
      <p:sp>
        <p:nvSpPr>
          <p:cNvPr id="9" name="Text 7"/>
          <p:cNvSpPr/>
          <p:nvPr/>
        </p:nvSpPr>
        <p:spPr>
          <a:xfrm>
            <a:off x="965200" y="2795016"/>
            <a:ext cx="47498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Tactics, not quizzes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65200" y="3112262"/>
            <a:ext cx="4749800" cy="618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drill is a real agent graph with a real fault: an unbounded loop, a router with two matching branches, a guard that logs and lets it through.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23000" y="2616200"/>
            <a:ext cx="5257800" cy="1320800"/>
          </a:xfrm>
          <a:prstGeom prst="roundRect">
            <a:avLst>
              <a:gd name="adj" fmla="val 7692"/>
            </a:avLst>
          </a:prstGeom>
          <a:solidFill>
            <a:srgbClr val="17181B"/>
          </a:solidFill>
          <a:ln/>
        </p:spPr>
      </p:sp>
      <p:sp>
        <p:nvSpPr>
          <p:cNvPr id="12" name="Shape 10"/>
          <p:cNvSpPr/>
          <p:nvPr/>
        </p:nvSpPr>
        <p:spPr>
          <a:xfrm>
            <a:off x="6223000" y="2616200"/>
            <a:ext cx="38100" cy="1320800"/>
          </a:xfrm>
          <a:prstGeom prst="rect">
            <a:avLst/>
          </a:prstGeom>
          <a:solidFill>
            <a:srgbClr val="2B2E32"/>
          </a:solidFill>
          <a:ln/>
        </p:spPr>
      </p:sp>
      <p:sp>
        <p:nvSpPr>
          <p:cNvPr id="13" name="Shape 11"/>
          <p:cNvSpPr/>
          <p:nvPr/>
        </p:nvSpPr>
        <p:spPr>
          <a:xfrm>
            <a:off x="6223000" y="2616200"/>
            <a:ext cx="38100" cy="1320800"/>
          </a:xfrm>
          <a:prstGeom prst="rect">
            <a:avLst/>
          </a:prstGeom>
          <a:solidFill>
            <a:srgbClr val="52C98B"/>
          </a:solidFill>
          <a:ln/>
        </p:spPr>
      </p:sp>
      <p:sp>
        <p:nvSpPr>
          <p:cNvPr id="14" name="Text 12"/>
          <p:cNvSpPr/>
          <p:nvPr/>
        </p:nvSpPr>
        <p:spPr>
          <a:xfrm>
            <a:off x="6477000" y="2795016"/>
            <a:ext cx="47498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search engine scores you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77000" y="3112262"/>
            <a:ext cx="4749800" cy="618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beam search looks for the repair too, so the hint is the first move of a solution it actually found — not a sentence someone pre-wrote.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11200" y="4114800"/>
            <a:ext cx="5257800" cy="1320800"/>
          </a:xfrm>
          <a:prstGeom prst="roundRect">
            <a:avLst>
              <a:gd name="adj" fmla="val 7692"/>
            </a:avLst>
          </a:prstGeom>
          <a:solidFill>
            <a:srgbClr val="17181B"/>
          </a:solidFill>
          <a:ln/>
        </p:spPr>
      </p:sp>
      <p:sp>
        <p:nvSpPr>
          <p:cNvPr id="17" name="Shape 15"/>
          <p:cNvSpPr/>
          <p:nvPr/>
        </p:nvSpPr>
        <p:spPr>
          <a:xfrm>
            <a:off x="711200" y="4114800"/>
            <a:ext cx="38100" cy="1320800"/>
          </a:xfrm>
          <a:prstGeom prst="rect">
            <a:avLst/>
          </a:prstGeom>
          <a:solidFill>
            <a:srgbClr val="2B2E32"/>
          </a:solidFill>
          <a:ln/>
        </p:spPr>
      </p:sp>
      <p:sp>
        <p:nvSpPr>
          <p:cNvPr id="18" name="Shape 16"/>
          <p:cNvSpPr/>
          <p:nvPr/>
        </p:nvSpPr>
        <p:spPr>
          <a:xfrm>
            <a:off x="711200" y="4114800"/>
            <a:ext cx="38100" cy="1320800"/>
          </a:xfrm>
          <a:prstGeom prst="rect">
            <a:avLst/>
          </a:prstGeom>
          <a:solidFill>
            <a:srgbClr val="4EA8FF"/>
          </a:solidFill>
          <a:ln/>
        </p:spPr>
      </p:sp>
      <p:sp>
        <p:nvSpPr>
          <p:cNvPr id="19" name="Text 17"/>
          <p:cNvSpPr/>
          <p:nvPr/>
        </p:nvSpPr>
        <p:spPr>
          <a:xfrm>
            <a:off x="965200" y="4293616"/>
            <a:ext cx="47498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simulator decides truth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65200" y="4610862"/>
            <a:ext cx="4749800" cy="618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fix is executed. "Did it work" is a fact, not an opinion.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223000" y="4114800"/>
            <a:ext cx="5257800" cy="1320800"/>
          </a:xfrm>
          <a:prstGeom prst="roundRect">
            <a:avLst>
              <a:gd name="adj" fmla="val 7692"/>
            </a:avLst>
          </a:prstGeom>
          <a:solidFill>
            <a:srgbClr val="17181B"/>
          </a:solidFill>
          <a:ln/>
        </p:spPr>
      </p:sp>
      <p:sp>
        <p:nvSpPr>
          <p:cNvPr id="22" name="Shape 20"/>
          <p:cNvSpPr/>
          <p:nvPr/>
        </p:nvSpPr>
        <p:spPr>
          <a:xfrm>
            <a:off x="6223000" y="4114800"/>
            <a:ext cx="38100" cy="1320800"/>
          </a:xfrm>
          <a:prstGeom prst="rect">
            <a:avLst/>
          </a:prstGeom>
          <a:solidFill>
            <a:srgbClr val="2B2E32"/>
          </a:solidFill>
          <a:ln/>
        </p:spPr>
      </p:sp>
      <p:sp>
        <p:nvSpPr>
          <p:cNvPr id="23" name="Shape 21"/>
          <p:cNvSpPr/>
          <p:nvPr/>
        </p:nvSpPr>
        <p:spPr>
          <a:xfrm>
            <a:off x="6223000" y="4114800"/>
            <a:ext cx="38100" cy="1320800"/>
          </a:xfrm>
          <a:prstGeom prst="rect">
            <a:avLst/>
          </a:prstGeom>
          <a:solidFill>
            <a:srgbClr val="7B8EFF"/>
          </a:solidFill>
          <a:ln/>
        </p:spPr>
      </p:sp>
      <p:sp>
        <p:nvSpPr>
          <p:cNvPr id="24" name="Text 22"/>
          <p:cNvSpPr/>
          <p:nvPr/>
        </p:nvSpPr>
        <p:spPr>
          <a:xfrm>
            <a:off x="6477000" y="4293616"/>
            <a:ext cx="47498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Rated, like chess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77000" y="4610862"/>
            <a:ext cx="4749800" cy="618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Glicko-2 ratings move on what you actually solved, in single player and in rated matches against other engineers.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711200" y="6299200"/>
            <a:ext cx="10769600" cy="0"/>
          </a:xfrm>
          <a:prstGeom prst="line">
            <a:avLst/>
          </a:prstGeom>
          <a:noFill/>
          <a:ln w="12700">
            <a:solidFill>
              <a:srgbClr val="2B2E3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1200" y="6368796"/>
            <a:ext cx="508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spc="60" kern="0" dirty="0">
                <a:solidFill>
                  <a:srgbClr val="717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VerionX  ·  UloX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670800" y="6368796"/>
            <a:ext cx="381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717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www.ulox.verionx.org   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0F11"/>
          </a:solidFill>
          <a:ln/>
        </p:spPr>
      </p:sp>
      <p:sp>
        <p:nvSpPr>
          <p:cNvPr id="3" name="Text 1"/>
          <p:cNvSpPr/>
          <p:nvPr/>
        </p:nvSpPr>
        <p:spPr>
          <a:xfrm>
            <a:off x="711200" y="546862"/>
            <a:ext cx="10769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b="1" spc="160" kern="0" dirty="0">
                <a:solidFill>
                  <a:srgbClr val="EE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— THE FRAMEWORK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711200" y="742696"/>
            <a:ext cx="10769600" cy="15752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ITOLS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2082800" y="944372"/>
            <a:ext cx="5842000" cy="739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layers that turn a prompt into a contract you can test.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305800" y="602996"/>
            <a:ext cx="317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900" b="1" spc="110" kern="0" dirty="0">
                <a:solidFill>
                  <a:srgbClr val="EE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PROPRIETARY VERIONX FRAMEWORK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305800" y="780796"/>
            <a:ext cx="317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717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Created by Elijah Moses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11200" y="1727200"/>
            <a:ext cx="10769600" cy="711200"/>
          </a:xfrm>
          <a:prstGeom prst="roundRect">
            <a:avLst>
              <a:gd name="adj" fmla="val 10714"/>
            </a:avLst>
          </a:prstGeom>
          <a:solidFill>
            <a:srgbClr val="17181B"/>
          </a:solidFill>
          <a:ln/>
        </p:spPr>
      </p:sp>
      <p:sp>
        <p:nvSpPr>
          <p:cNvPr id="9" name="Shape 7"/>
          <p:cNvSpPr/>
          <p:nvPr/>
        </p:nvSpPr>
        <p:spPr>
          <a:xfrm>
            <a:off x="711200" y="1727200"/>
            <a:ext cx="50800" cy="711200"/>
          </a:xfrm>
          <a:prstGeom prst="rect">
            <a:avLst/>
          </a:prstGeom>
          <a:solidFill>
            <a:srgbClr val="3FD07A"/>
          </a:solidFill>
          <a:ln/>
        </p:spPr>
      </p:sp>
      <p:sp>
        <p:nvSpPr>
          <p:cNvPr id="10" name="Shape 8"/>
          <p:cNvSpPr/>
          <p:nvPr/>
        </p:nvSpPr>
        <p:spPr>
          <a:xfrm>
            <a:off x="939800" y="1892300"/>
            <a:ext cx="406400" cy="406400"/>
          </a:xfrm>
          <a:prstGeom prst="roundRect">
            <a:avLst>
              <a:gd name="adj" fmla="val 18750"/>
            </a:avLst>
          </a:prstGeom>
          <a:solidFill>
            <a:srgbClr val="3FD07A"/>
          </a:solidFill>
          <a:ln/>
        </p:spPr>
      </p:sp>
      <p:sp>
        <p:nvSpPr>
          <p:cNvPr id="11" name="Text 9"/>
          <p:cNvSpPr/>
          <p:nvPr/>
        </p:nvSpPr>
        <p:spPr>
          <a:xfrm>
            <a:off x="939800" y="1924304"/>
            <a:ext cx="406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0E0F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498600" y="1851660"/>
            <a:ext cx="1905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3FD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498600" y="2136140"/>
            <a:ext cx="2286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the agent is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038600" y="1917700"/>
            <a:ext cx="2243667" cy="355600"/>
          </a:xfrm>
          <a:prstGeom prst="roundRect">
            <a:avLst>
              <a:gd name="adj" fmla="val 17857"/>
            </a:avLst>
          </a:prstGeom>
          <a:solidFill>
            <a:srgbClr val="1E2024"/>
          </a:solidFill>
          <a:ln/>
        </p:spPr>
      </p:sp>
      <p:sp>
        <p:nvSpPr>
          <p:cNvPr id="15" name="Text 13"/>
          <p:cNvSpPr/>
          <p:nvPr/>
        </p:nvSpPr>
        <p:spPr>
          <a:xfrm>
            <a:off x="4038600" y="1980184"/>
            <a:ext cx="2243667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Authenticity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34667" y="1917700"/>
            <a:ext cx="2243667" cy="355600"/>
          </a:xfrm>
          <a:prstGeom prst="roundRect">
            <a:avLst>
              <a:gd name="adj" fmla="val 17857"/>
            </a:avLst>
          </a:prstGeom>
          <a:solidFill>
            <a:srgbClr val="1E2024"/>
          </a:solidFill>
          <a:ln/>
        </p:spPr>
      </p:sp>
      <p:sp>
        <p:nvSpPr>
          <p:cNvPr id="17" name="Text 15"/>
          <p:cNvSpPr/>
          <p:nvPr/>
        </p:nvSpPr>
        <p:spPr>
          <a:xfrm>
            <a:off x="6434667" y="1980184"/>
            <a:ext cx="2243667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Authority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830733" y="1917700"/>
            <a:ext cx="2243667" cy="355600"/>
          </a:xfrm>
          <a:prstGeom prst="roundRect">
            <a:avLst>
              <a:gd name="adj" fmla="val 17857"/>
            </a:avLst>
          </a:prstGeom>
          <a:solidFill>
            <a:srgbClr val="1E2024"/>
          </a:solidFill>
          <a:ln/>
        </p:spPr>
      </p:sp>
      <p:sp>
        <p:nvSpPr>
          <p:cNvPr id="19" name="Text 17"/>
          <p:cNvSpPr/>
          <p:nvPr/>
        </p:nvSpPr>
        <p:spPr>
          <a:xfrm>
            <a:off x="8830733" y="1980184"/>
            <a:ext cx="2243667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Affirmation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11200" y="2540000"/>
            <a:ext cx="10769600" cy="711200"/>
          </a:xfrm>
          <a:prstGeom prst="roundRect">
            <a:avLst>
              <a:gd name="adj" fmla="val 10714"/>
            </a:avLst>
          </a:prstGeom>
          <a:solidFill>
            <a:srgbClr val="17181B"/>
          </a:solidFill>
          <a:ln/>
        </p:spPr>
      </p:sp>
      <p:sp>
        <p:nvSpPr>
          <p:cNvPr id="21" name="Shape 19"/>
          <p:cNvSpPr/>
          <p:nvPr/>
        </p:nvSpPr>
        <p:spPr>
          <a:xfrm>
            <a:off x="711200" y="2540000"/>
            <a:ext cx="50800" cy="711200"/>
          </a:xfrm>
          <a:prstGeom prst="rect">
            <a:avLst/>
          </a:prstGeom>
          <a:solidFill>
            <a:srgbClr val="52C98B"/>
          </a:solidFill>
          <a:ln/>
        </p:spPr>
      </p:sp>
      <p:sp>
        <p:nvSpPr>
          <p:cNvPr id="22" name="Shape 20"/>
          <p:cNvSpPr/>
          <p:nvPr/>
        </p:nvSpPr>
        <p:spPr>
          <a:xfrm>
            <a:off x="939800" y="2705100"/>
            <a:ext cx="406400" cy="406400"/>
          </a:xfrm>
          <a:prstGeom prst="roundRect">
            <a:avLst>
              <a:gd name="adj" fmla="val 18750"/>
            </a:avLst>
          </a:prstGeom>
          <a:solidFill>
            <a:srgbClr val="52C98B"/>
          </a:solidFill>
          <a:ln/>
        </p:spPr>
      </p:sp>
      <p:sp>
        <p:nvSpPr>
          <p:cNvPr id="23" name="Text 21"/>
          <p:cNvSpPr/>
          <p:nvPr/>
        </p:nvSpPr>
        <p:spPr>
          <a:xfrm>
            <a:off x="939800" y="2737104"/>
            <a:ext cx="406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0E0F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498600" y="2664460"/>
            <a:ext cx="1905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52C9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Tasks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498600" y="2948940"/>
            <a:ext cx="2286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must do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038600" y="2730500"/>
            <a:ext cx="2243667" cy="355600"/>
          </a:xfrm>
          <a:prstGeom prst="roundRect">
            <a:avLst>
              <a:gd name="adj" fmla="val 17857"/>
            </a:avLst>
          </a:prstGeom>
          <a:solidFill>
            <a:srgbClr val="1E2024"/>
          </a:solidFill>
          <a:ln/>
        </p:spPr>
      </p:sp>
      <p:sp>
        <p:nvSpPr>
          <p:cNvPr id="27" name="Text 25"/>
          <p:cNvSpPr/>
          <p:nvPr/>
        </p:nvSpPr>
        <p:spPr>
          <a:xfrm>
            <a:off x="4038600" y="2792984"/>
            <a:ext cx="2243667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34667" y="2730500"/>
            <a:ext cx="2243667" cy="355600"/>
          </a:xfrm>
          <a:prstGeom prst="roundRect">
            <a:avLst>
              <a:gd name="adj" fmla="val 17857"/>
            </a:avLst>
          </a:prstGeom>
          <a:solidFill>
            <a:srgbClr val="1E2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434667" y="2792984"/>
            <a:ext cx="2243667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830733" y="2730500"/>
            <a:ext cx="2243667" cy="355600"/>
          </a:xfrm>
          <a:prstGeom prst="roundRect">
            <a:avLst>
              <a:gd name="adj" fmla="val 17857"/>
            </a:avLst>
          </a:prstGeom>
          <a:solidFill>
            <a:srgbClr val="1E2024"/>
          </a:solidFill>
          <a:ln/>
        </p:spPr>
      </p:sp>
      <p:sp>
        <p:nvSpPr>
          <p:cNvPr id="31" name="Text 29"/>
          <p:cNvSpPr/>
          <p:nvPr/>
        </p:nvSpPr>
        <p:spPr>
          <a:xfrm>
            <a:off x="8830733" y="2792984"/>
            <a:ext cx="2243667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Audience / Object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711200" y="3352800"/>
            <a:ext cx="10769600" cy="711200"/>
          </a:xfrm>
          <a:prstGeom prst="roundRect">
            <a:avLst>
              <a:gd name="adj" fmla="val 10714"/>
            </a:avLst>
          </a:prstGeom>
          <a:solidFill>
            <a:srgbClr val="17181B"/>
          </a:solidFill>
          <a:ln/>
        </p:spPr>
      </p:sp>
      <p:sp>
        <p:nvSpPr>
          <p:cNvPr id="33" name="Shape 31"/>
          <p:cNvSpPr/>
          <p:nvPr/>
        </p:nvSpPr>
        <p:spPr>
          <a:xfrm>
            <a:off x="711200" y="3352800"/>
            <a:ext cx="50800" cy="711200"/>
          </a:xfrm>
          <a:prstGeom prst="rect">
            <a:avLst/>
          </a:prstGeom>
          <a:solidFill>
            <a:srgbClr val="4EA8FF"/>
          </a:solidFill>
          <a:ln/>
        </p:spPr>
      </p:sp>
      <p:sp>
        <p:nvSpPr>
          <p:cNvPr id="34" name="Shape 32"/>
          <p:cNvSpPr/>
          <p:nvPr/>
        </p:nvSpPr>
        <p:spPr>
          <a:xfrm>
            <a:off x="939800" y="3517900"/>
            <a:ext cx="406400" cy="406400"/>
          </a:xfrm>
          <a:prstGeom prst="roundRect">
            <a:avLst>
              <a:gd name="adj" fmla="val 18750"/>
            </a:avLst>
          </a:prstGeom>
          <a:solidFill>
            <a:srgbClr val="4EA8FF"/>
          </a:solidFill>
          <a:ln/>
        </p:spPr>
      </p:sp>
      <p:sp>
        <p:nvSpPr>
          <p:cNvPr id="35" name="Text 33"/>
          <p:cNvSpPr/>
          <p:nvPr/>
        </p:nvSpPr>
        <p:spPr>
          <a:xfrm>
            <a:off x="939800" y="3549904"/>
            <a:ext cx="406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0E0F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1498600" y="3477260"/>
            <a:ext cx="1905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4E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1498600" y="3761740"/>
            <a:ext cx="2286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finished looks like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038600" y="3543300"/>
            <a:ext cx="2243667" cy="355600"/>
          </a:xfrm>
          <a:prstGeom prst="roundRect">
            <a:avLst>
              <a:gd name="adj" fmla="val 17857"/>
            </a:avLst>
          </a:prstGeom>
          <a:solidFill>
            <a:srgbClr val="1E2024"/>
          </a:solidFill>
          <a:ln/>
        </p:spPr>
      </p:sp>
      <p:sp>
        <p:nvSpPr>
          <p:cNvPr id="39" name="Text 37"/>
          <p:cNvSpPr/>
          <p:nvPr/>
        </p:nvSpPr>
        <p:spPr>
          <a:xfrm>
            <a:off x="4038600" y="3605784"/>
            <a:ext cx="2243667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34667" y="3543300"/>
            <a:ext cx="2243667" cy="355600"/>
          </a:xfrm>
          <a:prstGeom prst="roundRect">
            <a:avLst>
              <a:gd name="adj" fmla="val 17857"/>
            </a:avLst>
          </a:prstGeom>
          <a:solidFill>
            <a:srgbClr val="1E2024"/>
          </a:solidFill>
          <a:ln/>
        </p:spPr>
      </p:sp>
      <p:sp>
        <p:nvSpPr>
          <p:cNvPr id="41" name="Text 39"/>
          <p:cNvSpPr/>
          <p:nvPr/>
        </p:nvSpPr>
        <p:spPr>
          <a:xfrm>
            <a:off x="6434667" y="3605784"/>
            <a:ext cx="2243667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8830733" y="3543300"/>
            <a:ext cx="2243667" cy="355600"/>
          </a:xfrm>
          <a:prstGeom prst="roundRect">
            <a:avLst>
              <a:gd name="adj" fmla="val 17857"/>
            </a:avLst>
          </a:prstGeom>
          <a:solidFill>
            <a:srgbClr val="1E2024"/>
          </a:solidFill>
          <a:ln/>
        </p:spPr>
      </p:sp>
      <p:sp>
        <p:nvSpPr>
          <p:cNvPr id="43" name="Text 41"/>
          <p:cNvSpPr/>
          <p:nvPr/>
        </p:nvSpPr>
        <p:spPr>
          <a:xfrm>
            <a:off x="8830733" y="3605784"/>
            <a:ext cx="2243667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Synthesis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711200" y="4165600"/>
            <a:ext cx="10769600" cy="711200"/>
          </a:xfrm>
          <a:prstGeom prst="roundRect">
            <a:avLst>
              <a:gd name="adj" fmla="val 10714"/>
            </a:avLst>
          </a:prstGeom>
          <a:solidFill>
            <a:srgbClr val="17181B"/>
          </a:solidFill>
          <a:ln/>
        </p:spPr>
      </p:sp>
      <p:sp>
        <p:nvSpPr>
          <p:cNvPr id="45" name="Shape 43"/>
          <p:cNvSpPr/>
          <p:nvPr/>
        </p:nvSpPr>
        <p:spPr>
          <a:xfrm>
            <a:off x="711200" y="4165600"/>
            <a:ext cx="50800" cy="711200"/>
          </a:xfrm>
          <a:prstGeom prst="rect">
            <a:avLst/>
          </a:prstGeom>
          <a:solidFill>
            <a:srgbClr val="7B8EFF"/>
          </a:solidFill>
          <a:ln/>
        </p:spPr>
      </p:sp>
      <p:sp>
        <p:nvSpPr>
          <p:cNvPr id="46" name="Shape 44"/>
          <p:cNvSpPr/>
          <p:nvPr/>
        </p:nvSpPr>
        <p:spPr>
          <a:xfrm>
            <a:off x="939800" y="4330700"/>
            <a:ext cx="406400" cy="406400"/>
          </a:xfrm>
          <a:prstGeom prst="roundRect">
            <a:avLst>
              <a:gd name="adj" fmla="val 18750"/>
            </a:avLst>
          </a:prstGeom>
          <a:solidFill>
            <a:srgbClr val="7B8EFF"/>
          </a:solidFill>
          <a:ln/>
        </p:spPr>
      </p:sp>
      <p:sp>
        <p:nvSpPr>
          <p:cNvPr id="47" name="Text 45"/>
          <p:cNvSpPr/>
          <p:nvPr/>
        </p:nvSpPr>
        <p:spPr>
          <a:xfrm>
            <a:off x="939800" y="4362704"/>
            <a:ext cx="406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0E0F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1498600" y="4290060"/>
            <a:ext cx="1905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7B8E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Language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1498600" y="4574540"/>
            <a:ext cx="2286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must speak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4038600" y="4356100"/>
            <a:ext cx="2243667" cy="355600"/>
          </a:xfrm>
          <a:prstGeom prst="roundRect">
            <a:avLst>
              <a:gd name="adj" fmla="val 17857"/>
            </a:avLst>
          </a:prstGeom>
          <a:solidFill>
            <a:srgbClr val="1E2024"/>
          </a:solidFill>
          <a:ln/>
        </p:spPr>
      </p:sp>
      <p:sp>
        <p:nvSpPr>
          <p:cNvPr id="51" name="Text 49"/>
          <p:cNvSpPr/>
          <p:nvPr/>
        </p:nvSpPr>
        <p:spPr>
          <a:xfrm>
            <a:off x="4038600" y="4418584"/>
            <a:ext cx="2243667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Clarity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6434667" y="4356100"/>
            <a:ext cx="2243667" cy="355600"/>
          </a:xfrm>
          <a:prstGeom prst="roundRect">
            <a:avLst>
              <a:gd name="adj" fmla="val 17857"/>
            </a:avLst>
          </a:prstGeom>
          <a:solidFill>
            <a:srgbClr val="1E2024"/>
          </a:solidFill>
          <a:ln/>
        </p:spPr>
      </p:sp>
      <p:sp>
        <p:nvSpPr>
          <p:cNvPr id="53" name="Text 51"/>
          <p:cNvSpPr/>
          <p:nvPr/>
        </p:nvSpPr>
        <p:spPr>
          <a:xfrm>
            <a:off x="6434667" y="4418584"/>
            <a:ext cx="2243667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Composure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8830733" y="4356100"/>
            <a:ext cx="2243667" cy="355600"/>
          </a:xfrm>
          <a:prstGeom prst="roundRect">
            <a:avLst>
              <a:gd name="adj" fmla="val 17857"/>
            </a:avLst>
          </a:prstGeom>
          <a:solidFill>
            <a:srgbClr val="1E2024"/>
          </a:solidFill>
          <a:ln/>
        </p:spPr>
      </p:sp>
      <p:sp>
        <p:nvSpPr>
          <p:cNvPr id="55" name="Text 53"/>
          <p:cNvSpPr/>
          <p:nvPr/>
        </p:nvSpPr>
        <p:spPr>
          <a:xfrm>
            <a:off x="8830733" y="4418584"/>
            <a:ext cx="2243667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Tone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711200" y="4978400"/>
            <a:ext cx="10769600" cy="711200"/>
          </a:xfrm>
          <a:prstGeom prst="roundRect">
            <a:avLst>
              <a:gd name="adj" fmla="val 10714"/>
            </a:avLst>
          </a:prstGeom>
          <a:solidFill>
            <a:srgbClr val="17181B"/>
          </a:solidFill>
          <a:ln/>
        </p:spPr>
      </p:sp>
      <p:sp>
        <p:nvSpPr>
          <p:cNvPr id="57" name="Shape 55"/>
          <p:cNvSpPr/>
          <p:nvPr/>
        </p:nvSpPr>
        <p:spPr>
          <a:xfrm>
            <a:off x="711200" y="4978400"/>
            <a:ext cx="50800" cy="711200"/>
          </a:xfrm>
          <a:prstGeom prst="rect">
            <a:avLst/>
          </a:prstGeom>
          <a:solidFill>
            <a:srgbClr val="9B7BFF"/>
          </a:solidFill>
          <a:ln/>
        </p:spPr>
      </p:sp>
      <p:sp>
        <p:nvSpPr>
          <p:cNvPr id="58" name="Shape 56"/>
          <p:cNvSpPr/>
          <p:nvPr/>
        </p:nvSpPr>
        <p:spPr>
          <a:xfrm>
            <a:off x="939800" y="5143500"/>
            <a:ext cx="406400" cy="406400"/>
          </a:xfrm>
          <a:prstGeom prst="roundRect">
            <a:avLst>
              <a:gd name="adj" fmla="val 18750"/>
            </a:avLst>
          </a:prstGeom>
          <a:solidFill>
            <a:srgbClr val="9B7BFF"/>
          </a:solidFill>
          <a:ln/>
        </p:spPr>
      </p:sp>
      <p:sp>
        <p:nvSpPr>
          <p:cNvPr id="59" name="Text 57"/>
          <p:cNvSpPr/>
          <p:nvPr/>
        </p:nvSpPr>
        <p:spPr>
          <a:xfrm>
            <a:off x="939800" y="5175504"/>
            <a:ext cx="406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0E0F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endParaRPr lang="en-US" sz="1600" dirty="0"/>
          </a:p>
        </p:txBody>
      </p:sp>
      <p:sp>
        <p:nvSpPr>
          <p:cNvPr id="60" name="Text 58"/>
          <p:cNvSpPr/>
          <p:nvPr/>
        </p:nvSpPr>
        <p:spPr>
          <a:xfrm>
            <a:off x="1498600" y="5102860"/>
            <a:ext cx="1905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9B7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1500" dirty="0"/>
          </a:p>
        </p:txBody>
      </p:sp>
      <p:sp>
        <p:nvSpPr>
          <p:cNvPr id="61" name="Text 59"/>
          <p:cNvSpPr/>
          <p:nvPr/>
        </p:nvSpPr>
        <p:spPr>
          <a:xfrm>
            <a:off x="1498600" y="5387340"/>
            <a:ext cx="2286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must never do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4038600" y="5168900"/>
            <a:ext cx="2243667" cy="355600"/>
          </a:xfrm>
          <a:prstGeom prst="roundRect">
            <a:avLst>
              <a:gd name="adj" fmla="val 17857"/>
            </a:avLst>
          </a:prstGeom>
          <a:solidFill>
            <a:srgbClr val="1E2024"/>
          </a:solidFill>
          <a:ln/>
        </p:spPr>
      </p:sp>
      <p:sp>
        <p:nvSpPr>
          <p:cNvPr id="63" name="Text 61"/>
          <p:cNvSpPr/>
          <p:nvPr/>
        </p:nvSpPr>
        <p:spPr>
          <a:xfrm>
            <a:off x="4038600" y="5231384"/>
            <a:ext cx="2243667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6434667" y="5168900"/>
            <a:ext cx="2243667" cy="355600"/>
          </a:xfrm>
          <a:prstGeom prst="roundRect">
            <a:avLst>
              <a:gd name="adj" fmla="val 17857"/>
            </a:avLst>
          </a:prstGeom>
          <a:solidFill>
            <a:srgbClr val="1E2024"/>
          </a:solidFill>
          <a:ln/>
        </p:spPr>
      </p:sp>
      <p:sp>
        <p:nvSpPr>
          <p:cNvPr id="65" name="Text 63"/>
          <p:cNvSpPr/>
          <p:nvPr/>
        </p:nvSpPr>
        <p:spPr>
          <a:xfrm>
            <a:off x="6434667" y="5231384"/>
            <a:ext cx="2243667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8830733" y="5168900"/>
            <a:ext cx="2243667" cy="355600"/>
          </a:xfrm>
          <a:prstGeom prst="roundRect">
            <a:avLst>
              <a:gd name="adj" fmla="val 17857"/>
            </a:avLst>
          </a:prstGeom>
          <a:solidFill>
            <a:srgbClr val="1E2024"/>
          </a:solidFill>
          <a:ln/>
        </p:spPr>
      </p:sp>
      <p:sp>
        <p:nvSpPr>
          <p:cNvPr id="67" name="Text 65"/>
          <p:cNvSpPr/>
          <p:nvPr/>
        </p:nvSpPr>
        <p:spPr>
          <a:xfrm>
            <a:off x="8830733" y="5231384"/>
            <a:ext cx="2243667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Balance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711200" y="5830062"/>
            <a:ext cx="10769600" cy="597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Fifteen checkable fields where there used to be a paragraph of hope — taught, drilled and scored inside UloX.</a:t>
            </a:r>
            <a:endParaRPr lang="en-US" sz="1050" dirty="0"/>
          </a:p>
        </p:txBody>
      </p:sp>
      <p:sp>
        <p:nvSpPr>
          <p:cNvPr id="69" name="Shape 67"/>
          <p:cNvSpPr/>
          <p:nvPr/>
        </p:nvSpPr>
        <p:spPr>
          <a:xfrm>
            <a:off x="711200" y="6299200"/>
            <a:ext cx="10769600" cy="0"/>
          </a:xfrm>
          <a:prstGeom prst="line">
            <a:avLst/>
          </a:prstGeom>
          <a:noFill/>
          <a:ln w="12700">
            <a:solidFill>
              <a:srgbClr val="2B2E32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711200" y="6368796"/>
            <a:ext cx="508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spc="60" kern="0" dirty="0">
                <a:solidFill>
                  <a:srgbClr val="717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VerionX  ·  UloX</a:t>
            </a:r>
            <a:endParaRPr lang="en-US" sz="900" dirty="0"/>
          </a:p>
        </p:txBody>
      </p:sp>
      <p:sp>
        <p:nvSpPr>
          <p:cNvPr id="71" name="Text 69"/>
          <p:cNvSpPr/>
          <p:nvPr/>
        </p:nvSpPr>
        <p:spPr>
          <a:xfrm>
            <a:off x="7670800" y="6368796"/>
            <a:ext cx="381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717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www.ulox.verionx.org   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0F11"/>
          </a:solidFill>
          <a:ln/>
        </p:spPr>
      </p:sp>
      <p:sp>
        <p:nvSpPr>
          <p:cNvPr id="3" name="Text 1"/>
          <p:cNvSpPr/>
          <p:nvPr/>
        </p:nvSpPr>
        <p:spPr>
          <a:xfrm>
            <a:off x="711200" y="546862"/>
            <a:ext cx="10769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b="1" spc="160" kern="0" dirty="0">
                <a:solidFill>
                  <a:srgbClr val="EE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— HOW IT TEACHES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711200" y="756920"/>
            <a:ext cx="10769600" cy="1824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it. Fix it. Build it.</a:t>
            </a:r>
            <a:endParaRPr lang="en-US" sz="300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prove it.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11200" y="2438400"/>
            <a:ext cx="2540000" cy="1219200"/>
          </a:xfrm>
          <a:prstGeom prst="roundRect">
            <a:avLst>
              <a:gd name="adj" fmla="val 8333"/>
            </a:avLst>
          </a:prstGeom>
          <a:solidFill>
            <a:srgbClr val="17181B"/>
          </a:solidFill>
          <a:ln/>
        </p:spPr>
      </p:sp>
      <p:sp>
        <p:nvSpPr>
          <p:cNvPr id="6" name="Shape 4"/>
          <p:cNvSpPr/>
          <p:nvPr/>
        </p:nvSpPr>
        <p:spPr>
          <a:xfrm>
            <a:off x="711200" y="2438400"/>
            <a:ext cx="2540000" cy="50800"/>
          </a:xfrm>
          <a:prstGeom prst="rect">
            <a:avLst/>
          </a:prstGeom>
          <a:solidFill>
            <a:srgbClr val="3FD07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620772"/>
            <a:ext cx="21336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3FD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2910840"/>
            <a:ext cx="2133600" cy="56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short idea, in plain words at your level.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54400" y="2438400"/>
            <a:ext cx="2540000" cy="1219200"/>
          </a:xfrm>
          <a:prstGeom prst="roundRect">
            <a:avLst>
              <a:gd name="adj" fmla="val 8333"/>
            </a:avLst>
          </a:prstGeom>
          <a:solidFill>
            <a:srgbClr val="17181B"/>
          </a:solidFill>
          <a:ln/>
        </p:spPr>
      </p:sp>
      <p:sp>
        <p:nvSpPr>
          <p:cNvPr id="10" name="Shape 8"/>
          <p:cNvSpPr/>
          <p:nvPr/>
        </p:nvSpPr>
        <p:spPr>
          <a:xfrm>
            <a:off x="3454400" y="2438400"/>
            <a:ext cx="2540000" cy="50800"/>
          </a:xfrm>
          <a:prstGeom prst="rect">
            <a:avLst/>
          </a:prstGeom>
          <a:solidFill>
            <a:srgbClr val="4EA8FF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0" y="2620772"/>
            <a:ext cx="21336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4E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657600" y="2910840"/>
            <a:ext cx="2133600" cy="56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broken system, repaired in a bounded number of moves.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97600" y="2438400"/>
            <a:ext cx="2540000" cy="1219200"/>
          </a:xfrm>
          <a:prstGeom prst="roundRect">
            <a:avLst>
              <a:gd name="adj" fmla="val 8333"/>
            </a:avLst>
          </a:prstGeom>
          <a:solidFill>
            <a:srgbClr val="17181B"/>
          </a:solidFill>
          <a:ln/>
        </p:spPr>
      </p:sp>
      <p:sp>
        <p:nvSpPr>
          <p:cNvPr id="14" name="Shape 12"/>
          <p:cNvSpPr/>
          <p:nvPr/>
        </p:nvSpPr>
        <p:spPr>
          <a:xfrm>
            <a:off x="6197600" y="2438400"/>
            <a:ext cx="2540000" cy="50800"/>
          </a:xfrm>
          <a:prstGeom prst="rect">
            <a:avLst/>
          </a:prstGeom>
          <a:solidFill>
            <a:srgbClr val="9B7BFF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0" y="2620772"/>
            <a:ext cx="21336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9B7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0" y="2910840"/>
            <a:ext cx="2133600" cy="56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pattern, built from nothing, graded by the simulator.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940800" y="2438400"/>
            <a:ext cx="2540000" cy="1219200"/>
          </a:xfrm>
          <a:prstGeom prst="roundRect">
            <a:avLst>
              <a:gd name="adj" fmla="val 8333"/>
            </a:avLst>
          </a:prstGeom>
          <a:solidFill>
            <a:srgbClr val="17181B"/>
          </a:solidFill>
          <a:ln/>
        </p:spPr>
      </p:sp>
      <p:sp>
        <p:nvSpPr>
          <p:cNvPr id="18" name="Shape 16"/>
          <p:cNvSpPr/>
          <p:nvPr/>
        </p:nvSpPr>
        <p:spPr>
          <a:xfrm>
            <a:off x="8940800" y="2438400"/>
            <a:ext cx="2540000" cy="50800"/>
          </a:xfrm>
          <a:prstGeom prst="rect">
            <a:avLst/>
          </a:prstGeom>
          <a:solidFill>
            <a:srgbClr val="EE1B24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0" y="2620772"/>
            <a:ext cx="21336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EE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144000" y="2910840"/>
            <a:ext cx="2133600" cy="56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certificate with a code anyone can verify.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11200" y="3962400"/>
            <a:ext cx="10769600" cy="1727200"/>
          </a:xfrm>
          <a:prstGeom prst="roundRect">
            <a:avLst>
              <a:gd name="adj" fmla="val 5882"/>
            </a:avLst>
          </a:prstGeom>
          <a:solidFill>
            <a:srgbClr val="1E2024"/>
          </a:solidFill>
          <a:ln/>
        </p:spPr>
      </p:sp>
      <p:sp>
        <p:nvSpPr>
          <p:cNvPr id="22" name="Text 20"/>
          <p:cNvSpPr/>
          <p:nvPr/>
        </p:nvSpPr>
        <p:spPr>
          <a:xfrm>
            <a:off x="1016000" y="4182618"/>
            <a:ext cx="6604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b="1" spc="120" kern="0" dirty="0">
                <a:solidFill>
                  <a:srgbClr val="717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PART COMPETITORS CANNOT COPY QUICKLY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016000" y="4476750"/>
            <a:ext cx="3217333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52C9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Proved content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1016000" y="4765040"/>
            <a:ext cx="3217333" cy="589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drill is machine-checked: solvable inside its move limit, not already solved, and findable by the hint the app actually gives.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487333" y="4476750"/>
            <a:ext cx="3217333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4E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Earned certificates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487333" y="4765040"/>
            <a:ext cx="3217333" cy="589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Requirements are re-derived on the server before anything is issued. The build step cannot be self-declared.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958667" y="4476750"/>
            <a:ext cx="3217333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7B8E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distribution loop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7958667" y="4765040"/>
            <a:ext cx="3217333" cy="589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 a build, publish it, and anyone can open the link, replay the run and fork it into their own Lab.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11200" y="6299200"/>
            <a:ext cx="10769600" cy="0"/>
          </a:xfrm>
          <a:prstGeom prst="line">
            <a:avLst/>
          </a:prstGeom>
          <a:noFill/>
          <a:ln w="12700">
            <a:solidFill>
              <a:srgbClr val="2B2E3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1200" y="6368796"/>
            <a:ext cx="508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spc="60" kern="0" dirty="0">
                <a:solidFill>
                  <a:srgbClr val="717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VerionX  ·  UloX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7670800" y="6368796"/>
            <a:ext cx="381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717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www.ulox.verionx.org   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0F11"/>
          </a:solidFill>
          <a:ln/>
        </p:spPr>
      </p:sp>
      <p:sp>
        <p:nvSpPr>
          <p:cNvPr id="3" name="Text 1"/>
          <p:cNvSpPr/>
          <p:nvPr/>
        </p:nvSpPr>
        <p:spPr>
          <a:xfrm>
            <a:off x="711200" y="546862"/>
            <a:ext cx="10769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b="1" spc="160" kern="0" dirty="0">
                <a:solidFill>
                  <a:srgbClr val="EE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— PROOF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711200" y="756920"/>
            <a:ext cx="1076960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are past the idea stage.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11200" y="1566418"/>
            <a:ext cx="7112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b="1" spc="130" kern="0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ULO — REACH ALREADY BUILT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711200" y="1812544"/>
            <a:ext cx="2011680" cy="132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80,000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711200" y="2275840"/>
            <a:ext cx="2011680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engaged in 10 months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900680" y="1812544"/>
            <a:ext cx="2011680" cy="132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2900680" y="2275840"/>
            <a:ext cx="2011680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secondary schools activated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90160" y="1812544"/>
            <a:ext cx="2011680" cy="132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5090160" y="2275840"/>
            <a:ext cx="2011680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universities engaged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279640" y="1812544"/>
            <a:ext cx="2011680" cy="132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1.2M+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7279640" y="2275840"/>
            <a:ext cx="2011680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teachers reached via Nigeria Teachers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9469120" y="1812544"/>
            <a:ext cx="2011680" cy="132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100+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9469120" y="2275840"/>
            <a:ext cx="2011680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ambassadors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11200" y="2997200"/>
            <a:ext cx="10769600" cy="0"/>
          </a:xfrm>
          <a:prstGeom prst="line">
            <a:avLst/>
          </a:prstGeom>
          <a:noFill/>
          <a:ln w="12700">
            <a:solidFill>
              <a:srgbClr val="2B2E3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1200" y="3166618"/>
            <a:ext cx="7112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b="1" spc="130" kern="0" dirty="0">
                <a:solidFill>
                  <a:srgbClr val="EE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ULOX — WHAT IS LIVE TODAY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711200" y="3412744"/>
            <a:ext cx="2011680" cy="132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EE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711200" y="3876040"/>
            <a:ext cx="2011680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drills, each machine-proved solvable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900680" y="3412744"/>
            <a:ext cx="2011680" cy="132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EE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2900680" y="3876040"/>
            <a:ext cx="2011680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disciplines, with guided builds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090160" y="3412744"/>
            <a:ext cx="2011680" cy="132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EE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5090160" y="3876040"/>
            <a:ext cx="2011680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roadmaps, pulled live from source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279640" y="3412744"/>
            <a:ext cx="2011680" cy="132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EE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7279640" y="3876040"/>
            <a:ext cx="2011680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glossary terms, alias-aware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9469120" y="3412744"/>
            <a:ext cx="2011680" cy="132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EE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154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9469120" y="3876040"/>
            <a:ext cx="2011680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one-page field notes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1200" y="4648200"/>
            <a:ext cx="10769600" cy="1041400"/>
          </a:xfrm>
          <a:prstGeom prst="roundRect">
            <a:avLst>
              <a:gd name="adj" fmla="val 9756"/>
            </a:avLst>
          </a:prstGeom>
          <a:solidFill>
            <a:srgbClr val="17181B"/>
          </a:solidFill>
          <a:ln/>
        </p:spPr>
      </p:sp>
      <p:sp>
        <p:nvSpPr>
          <p:cNvPr id="29" name="Text 27"/>
          <p:cNvSpPr/>
          <p:nvPr/>
        </p:nvSpPr>
        <p:spPr>
          <a:xfrm>
            <a:off x="1016000" y="4868418"/>
            <a:ext cx="3810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b="1" spc="120" kern="0" dirty="0">
                <a:solidFill>
                  <a:srgbClr val="717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PARTNERS AND PROGRAMMES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1016000" y="5144262"/>
            <a:ext cx="10160000" cy="618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Federal Government — co-partner on the national refugee re-skilling programme  ·  Nigeria Teachers (1.2M+ members)  ·  UNILAG · FUTO · UNICAL · LASU · UNIBEN · Bauchi State University  ·  10 AI labs being set up in schools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711200" y="6299200"/>
            <a:ext cx="10769600" cy="0"/>
          </a:xfrm>
          <a:prstGeom prst="line">
            <a:avLst/>
          </a:prstGeom>
          <a:noFill/>
          <a:ln w="12700">
            <a:solidFill>
              <a:srgbClr val="2B2E3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11200" y="6368796"/>
            <a:ext cx="508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spc="60" kern="0" dirty="0">
                <a:solidFill>
                  <a:srgbClr val="717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VerionX  ·  UloX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670800" y="6368796"/>
            <a:ext cx="381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717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www.ulox.verionx.org   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0F11"/>
          </a:solidFill>
          <a:ln/>
        </p:spPr>
      </p:sp>
      <p:sp>
        <p:nvSpPr>
          <p:cNvPr id="3" name="Text 1"/>
          <p:cNvSpPr/>
          <p:nvPr/>
        </p:nvSpPr>
        <p:spPr>
          <a:xfrm>
            <a:off x="711200" y="546862"/>
            <a:ext cx="10769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b="1" spc="160" kern="0" dirty="0">
                <a:solidFill>
                  <a:srgbClr val="EE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— MARKET AND TIMING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711200" y="756920"/>
            <a:ext cx="10769600" cy="1824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young continent, and a skill</a:t>
            </a:r>
            <a:endParaRPr lang="en-US" sz="300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world has not taught yet.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11200" y="2235200"/>
            <a:ext cx="2540000" cy="1625600"/>
          </a:xfrm>
          <a:prstGeom prst="roundRect">
            <a:avLst>
              <a:gd name="adj" fmla="val 6250"/>
            </a:avLst>
          </a:prstGeom>
          <a:solidFill>
            <a:srgbClr val="17181B"/>
          </a:solidFill>
          <a:ln/>
        </p:spPr>
      </p:sp>
      <p:sp>
        <p:nvSpPr>
          <p:cNvPr id="6" name="Shape 4"/>
          <p:cNvSpPr/>
          <p:nvPr/>
        </p:nvSpPr>
        <p:spPr>
          <a:xfrm>
            <a:off x="711200" y="2235200"/>
            <a:ext cx="38100" cy="1625600"/>
          </a:xfrm>
          <a:prstGeom prst="rect">
            <a:avLst/>
          </a:prstGeom>
          <a:solidFill>
            <a:srgbClr val="2B2E32"/>
          </a:solidFill>
          <a:ln/>
        </p:spPr>
      </p:sp>
      <p:sp>
        <p:nvSpPr>
          <p:cNvPr id="7" name="Shape 5"/>
          <p:cNvSpPr/>
          <p:nvPr/>
        </p:nvSpPr>
        <p:spPr>
          <a:xfrm>
            <a:off x="711200" y="2235200"/>
            <a:ext cx="38100" cy="1625600"/>
          </a:xfrm>
          <a:prstGeom prst="rect">
            <a:avLst/>
          </a:prstGeom>
          <a:solidFill>
            <a:srgbClr val="F5A524"/>
          </a:solidFill>
          <a:ln/>
        </p:spPr>
      </p:sp>
      <p:sp>
        <p:nvSpPr>
          <p:cNvPr id="8" name="Text 6"/>
          <p:cNvSpPr/>
          <p:nvPr/>
        </p:nvSpPr>
        <p:spPr>
          <a:xfrm>
            <a:off x="939800" y="2382520"/>
            <a:ext cx="20828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$10B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939800" y="2910840"/>
            <a:ext cx="2082800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Africa's EdTech market by 2026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939800" y="3424174"/>
            <a:ext cx="20828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50" spc="80" kern="0" dirty="0">
                <a:solidFill>
                  <a:srgbClr val="717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HolonIQ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3454400" y="2235200"/>
            <a:ext cx="2540000" cy="1625600"/>
          </a:xfrm>
          <a:prstGeom prst="roundRect">
            <a:avLst>
              <a:gd name="adj" fmla="val 6250"/>
            </a:avLst>
          </a:prstGeom>
          <a:solidFill>
            <a:srgbClr val="17181B"/>
          </a:solidFill>
          <a:ln/>
        </p:spPr>
      </p:sp>
      <p:sp>
        <p:nvSpPr>
          <p:cNvPr id="12" name="Shape 10"/>
          <p:cNvSpPr/>
          <p:nvPr/>
        </p:nvSpPr>
        <p:spPr>
          <a:xfrm>
            <a:off x="3454400" y="2235200"/>
            <a:ext cx="38100" cy="1625600"/>
          </a:xfrm>
          <a:prstGeom prst="rect">
            <a:avLst/>
          </a:prstGeom>
          <a:solidFill>
            <a:srgbClr val="2B2E3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54400" y="2235200"/>
            <a:ext cx="38100" cy="1625600"/>
          </a:xfrm>
          <a:prstGeom prst="rect">
            <a:avLst/>
          </a:prstGeom>
          <a:solidFill>
            <a:srgbClr val="F5A524"/>
          </a:solidFill>
          <a:ln/>
        </p:spPr>
      </p:sp>
      <p:sp>
        <p:nvSpPr>
          <p:cNvPr id="14" name="Text 12"/>
          <p:cNvSpPr/>
          <p:nvPr/>
        </p:nvSpPr>
        <p:spPr>
          <a:xfrm>
            <a:off x="3683000" y="2382520"/>
            <a:ext cx="20828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65M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3683000" y="2910840"/>
            <a:ext cx="2082800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in Nigeria alone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83000" y="3424174"/>
            <a:ext cx="20828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50" spc="80" kern="0" dirty="0">
                <a:solidFill>
                  <a:srgbClr val="717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UNESCO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197600" y="2235200"/>
            <a:ext cx="2540000" cy="1625600"/>
          </a:xfrm>
          <a:prstGeom prst="roundRect">
            <a:avLst>
              <a:gd name="adj" fmla="val 6250"/>
            </a:avLst>
          </a:prstGeom>
          <a:solidFill>
            <a:srgbClr val="17181B"/>
          </a:solidFill>
          <a:ln/>
        </p:spPr>
      </p:sp>
      <p:sp>
        <p:nvSpPr>
          <p:cNvPr id="18" name="Shape 16"/>
          <p:cNvSpPr/>
          <p:nvPr/>
        </p:nvSpPr>
        <p:spPr>
          <a:xfrm>
            <a:off x="6197600" y="2235200"/>
            <a:ext cx="38100" cy="1625600"/>
          </a:xfrm>
          <a:prstGeom prst="rect">
            <a:avLst/>
          </a:prstGeom>
          <a:solidFill>
            <a:srgbClr val="2B2E32"/>
          </a:solidFill>
          <a:ln/>
        </p:spPr>
      </p:sp>
      <p:sp>
        <p:nvSpPr>
          <p:cNvPr id="19" name="Shape 17"/>
          <p:cNvSpPr/>
          <p:nvPr/>
        </p:nvSpPr>
        <p:spPr>
          <a:xfrm>
            <a:off x="6197600" y="2235200"/>
            <a:ext cx="38100" cy="1625600"/>
          </a:xfrm>
          <a:prstGeom prst="rect">
            <a:avLst/>
          </a:prstGeom>
          <a:solidFill>
            <a:srgbClr val="F5A524"/>
          </a:solidFill>
          <a:ln/>
        </p:spPr>
      </p:sp>
      <p:sp>
        <p:nvSpPr>
          <p:cNvPr id="20" name="Text 18"/>
          <p:cNvSpPr/>
          <p:nvPr/>
        </p:nvSpPr>
        <p:spPr>
          <a:xfrm>
            <a:off x="6426200" y="2382520"/>
            <a:ext cx="20828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6426200" y="2910840"/>
            <a:ext cx="2082800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Nigerians are under 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26200" y="3424174"/>
            <a:ext cx="20828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50" spc="80" kern="0" dirty="0">
                <a:solidFill>
                  <a:srgbClr val="717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DESA / NBS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8940800" y="2235200"/>
            <a:ext cx="2540000" cy="1625600"/>
          </a:xfrm>
          <a:prstGeom prst="roundRect">
            <a:avLst>
              <a:gd name="adj" fmla="val 6250"/>
            </a:avLst>
          </a:prstGeom>
          <a:solidFill>
            <a:srgbClr val="17181B"/>
          </a:solidFill>
          <a:ln/>
        </p:spPr>
      </p:sp>
      <p:sp>
        <p:nvSpPr>
          <p:cNvPr id="24" name="Shape 22"/>
          <p:cNvSpPr/>
          <p:nvPr/>
        </p:nvSpPr>
        <p:spPr>
          <a:xfrm>
            <a:off x="8940800" y="2235200"/>
            <a:ext cx="38100" cy="1625600"/>
          </a:xfrm>
          <a:prstGeom prst="rect">
            <a:avLst/>
          </a:prstGeom>
          <a:solidFill>
            <a:srgbClr val="2B2E32"/>
          </a:solidFill>
          <a:ln/>
        </p:spPr>
      </p:sp>
      <p:sp>
        <p:nvSpPr>
          <p:cNvPr id="25" name="Shape 23"/>
          <p:cNvSpPr/>
          <p:nvPr/>
        </p:nvSpPr>
        <p:spPr>
          <a:xfrm>
            <a:off x="8940800" y="2235200"/>
            <a:ext cx="38100" cy="1625600"/>
          </a:xfrm>
          <a:prstGeom prst="rect">
            <a:avLst/>
          </a:prstGeom>
          <a:solidFill>
            <a:srgbClr val="EE1B24"/>
          </a:solidFill>
          <a:ln/>
        </p:spPr>
      </p:sp>
      <p:sp>
        <p:nvSpPr>
          <p:cNvPr id="26" name="Text 24"/>
          <p:cNvSpPr/>
          <p:nvPr/>
        </p:nvSpPr>
        <p:spPr>
          <a:xfrm>
            <a:off x="9169400" y="2382520"/>
            <a:ext cx="20828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EE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98M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9169400" y="2910840"/>
            <a:ext cx="2082800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children and youth out of school in sub-Saharan Africa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9169400" y="3424174"/>
            <a:ext cx="20828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50" spc="80" kern="0" dirty="0">
                <a:solidFill>
                  <a:srgbClr val="717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UNESCO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711200" y="4140200"/>
            <a:ext cx="10769600" cy="1524000"/>
          </a:xfrm>
          <a:prstGeom prst="roundRect">
            <a:avLst>
              <a:gd name="adj" fmla="val 6667"/>
            </a:avLst>
          </a:prstGeom>
          <a:solidFill>
            <a:srgbClr val="1E2024"/>
          </a:solidFill>
          <a:ln/>
        </p:spPr>
      </p:sp>
      <p:sp>
        <p:nvSpPr>
          <p:cNvPr id="30" name="Text 28"/>
          <p:cNvSpPr/>
          <p:nvPr/>
        </p:nvSpPr>
        <p:spPr>
          <a:xfrm>
            <a:off x="1016000" y="4360418"/>
            <a:ext cx="6604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b="1" spc="120" kern="0" dirty="0">
                <a:solidFill>
                  <a:srgbClr val="717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NOW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1016000" y="4632706"/>
            <a:ext cx="487680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company is being told to add AI. Almost none of them have anyone who can make an agent behave under failure, attack or cost pressure.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248400" y="4632706"/>
            <a:ext cx="487680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UloX is free to learn on, in the browser, and already live. The market path is the one Ulo has already walked: Nigeria → West Africa → Africa → emerging markets.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711200" y="6299200"/>
            <a:ext cx="10769600" cy="0"/>
          </a:xfrm>
          <a:prstGeom prst="line">
            <a:avLst/>
          </a:prstGeom>
          <a:noFill/>
          <a:ln w="12700">
            <a:solidFill>
              <a:srgbClr val="2B2E3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11200" y="6368796"/>
            <a:ext cx="508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spc="60" kern="0" dirty="0">
                <a:solidFill>
                  <a:srgbClr val="717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VerionX  ·  UloX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670800" y="6368796"/>
            <a:ext cx="381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717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www.ulox.verionx.org   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0F11"/>
          </a:solidFill>
          <a:ln/>
        </p:spPr>
      </p:sp>
      <p:sp>
        <p:nvSpPr>
          <p:cNvPr id="3" name="Text 1"/>
          <p:cNvSpPr/>
          <p:nvPr/>
        </p:nvSpPr>
        <p:spPr>
          <a:xfrm>
            <a:off x="711200" y="546862"/>
            <a:ext cx="10769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b="1" spc="160" kern="0" dirty="0">
                <a:solidFill>
                  <a:srgbClr val="EE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— ROADMAP AND THE ASK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711200" y="756920"/>
            <a:ext cx="10769600" cy="1824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a launched product</a:t>
            </a:r>
            <a:endParaRPr lang="en-US" sz="300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a scalable platform.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11200" y="2336800"/>
            <a:ext cx="3437467" cy="1524000"/>
          </a:xfrm>
          <a:prstGeom prst="roundRect">
            <a:avLst>
              <a:gd name="adj" fmla="val 6667"/>
            </a:avLst>
          </a:prstGeom>
          <a:solidFill>
            <a:srgbClr val="17181B"/>
          </a:solidFill>
          <a:ln/>
        </p:spPr>
      </p:sp>
      <p:sp>
        <p:nvSpPr>
          <p:cNvPr id="6" name="Shape 4"/>
          <p:cNvSpPr/>
          <p:nvPr/>
        </p:nvSpPr>
        <p:spPr>
          <a:xfrm>
            <a:off x="711200" y="2336800"/>
            <a:ext cx="38100" cy="1524000"/>
          </a:xfrm>
          <a:prstGeom prst="rect">
            <a:avLst/>
          </a:prstGeom>
          <a:solidFill>
            <a:srgbClr val="2B2E32"/>
          </a:solidFill>
          <a:ln/>
        </p:spPr>
      </p:sp>
      <p:sp>
        <p:nvSpPr>
          <p:cNvPr id="7" name="Shape 5"/>
          <p:cNvSpPr/>
          <p:nvPr/>
        </p:nvSpPr>
        <p:spPr>
          <a:xfrm>
            <a:off x="711200" y="2336800"/>
            <a:ext cx="38100" cy="1524000"/>
          </a:xfrm>
          <a:prstGeom prst="rect">
            <a:avLst/>
          </a:prstGeom>
          <a:solidFill>
            <a:srgbClr val="3FD07A"/>
          </a:solidFill>
          <a:ln/>
        </p:spPr>
      </p:sp>
      <p:sp>
        <p:nvSpPr>
          <p:cNvPr id="8" name="Text 6"/>
          <p:cNvSpPr/>
          <p:nvPr/>
        </p:nvSpPr>
        <p:spPr>
          <a:xfrm>
            <a:off x="939800" y="2535174"/>
            <a:ext cx="2980267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50" b="1" spc="100" kern="0" dirty="0">
                <a:solidFill>
                  <a:srgbClr val="717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· 0–12 MONTHS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39800" y="2708148"/>
            <a:ext cx="2980267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3FD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Optimise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939800" y="3088640"/>
            <a:ext cx="2980267" cy="589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the first learning hub · deepen the gamification engine · ship the agentic curriculum · prove engagement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77267" y="2336800"/>
            <a:ext cx="3437467" cy="1524000"/>
          </a:xfrm>
          <a:prstGeom prst="roundRect">
            <a:avLst>
              <a:gd name="adj" fmla="val 6667"/>
            </a:avLst>
          </a:prstGeom>
          <a:solidFill>
            <a:srgbClr val="17181B"/>
          </a:solidFill>
          <a:ln/>
        </p:spPr>
      </p:sp>
      <p:sp>
        <p:nvSpPr>
          <p:cNvPr id="12" name="Shape 10"/>
          <p:cNvSpPr/>
          <p:nvPr/>
        </p:nvSpPr>
        <p:spPr>
          <a:xfrm>
            <a:off x="4377267" y="2336800"/>
            <a:ext cx="38100" cy="1524000"/>
          </a:xfrm>
          <a:prstGeom prst="rect">
            <a:avLst/>
          </a:prstGeom>
          <a:solidFill>
            <a:srgbClr val="2B2E32"/>
          </a:solidFill>
          <a:ln/>
        </p:spPr>
      </p:sp>
      <p:sp>
        <p:nvSpPr>
          <p:cNvPr id="13" name="Shape 11"/>
          <p:cNvSpPr/>
          <p:nvPr/>
        </p:nvSpPr>
        <p:spPr>
          <a:xfrm>
            <a:off x="4377267" y="2336800"/>
            <a:ext cx="38100" cy="1524000"/>
          </a:xfrm>
          <a:prstGeom prst="rect">
            <a:avLst/>
          </a:prstGeom>
          <a:solidFill>
            <a:srgbClr val="4EA8FF"/>
          </a:solidFill>
          <a:ln/>
        </p:spPr>
      </p:sp>
      <p:sp>
        <p:nvSpPr>
          <p:cNvPr id="14" name="Text 12"/>
          <p:cNvSpPr/>
          <p:nvPr/>
        </p:nvSpPr>
        <p:spPr>
          <a:xfrm>
            <a:off x="4605867" y="2535174"/>
            <a:ext cx="2980267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50" b="1" spc="100" kern="0" dirty="0">
                <a:solidFill>
                  <a:srgbClr val="717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· 12–24 MONTHS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605867" y="2708148"/>
            <a:ext cx="2980267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4E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Monetise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605867" y="3088640"/>
            <a:ext cx="2980267" cy="589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 premium · sign institutional licences · enterprise and government reskilling on UloX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43333" y="2336800"/>
            <a:ext cx="3437467" cy="1524000"/>
          </a:xfrm>
          <a:prstGeom prst="roundRect">
            <a:avLst>
              <a:gd name="adj" fmla="val 6667"/>
            </a:avLst>
          </a:prstGeom>
          <a:solidFill>
            <a:srgbClr val="17181B"/>
          </a:solidFill>
          <a:ln/>
        </p:spPr>
      </p:sp>
      <p:sp>
        <p:nvSpPr>
          <p:cNvPr id="18" name="Shape 16"/>
          <p:cNvSpPr/>
          <p:nvPr/>
        </p:nvSpPr>
        <p:spPr>
          <a:xfrm>
            <a:off x="8043333" y="2336800"/>
            <a:ext cx="38100" cy="1524000"/>
          </a:xfrm>
          <a:prstGeom prst="rect">
            <a:avLst/>
          </a:prstGeom>
          <a:solidFill>
            <a:srgbClr val="2B2E32"/>
          </a:solidFill>
          <a:ln/>
        </p:spPr>
      </p:sp>
      <p:sp>
        <p:nvSpPr>
          <p:cNvPr id="19" name="Shape 17"/>
          <p:cNvSpPr/>
          <p:nvPr/>
        </p:nvSpPr>
        <p:spPr>
          <a:xfrm>
            <a:off x="8043333" y="2336800"/>
            <a:ext cx="38100" cy="1524000"/>
          </a:xfrm>
          <a:prstGeom prst="rect">
            <a:avLst/>
          </a:prstGeom>
          <a:solidFill>
            <a:srgbClr val="9B7BFF"/>
          </a:solidFill>
          <a:ln/>
        </p:spPr>
      </p:sp>
      <p:sp>
        <p:nvSpPr>
          <p:cNvPr id="20" name="Text 18"/>
          <p:cNvSpPr/>
          <p:nvPr/>
        </p:nvSpPr>
        <p:spPr>
          <a:xfrm>
            <a:off x="8271933" y="2535174"/>
            <a:ext cx="2980267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50" b="1" spc="100" kern="0" dirty="0">
                <a:solidFill>
                  <a:srgbClr val="717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 · 24–36 MONTHS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8271933" y="2708148"/>
            <a:ext cx="2980267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9B7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8271933" y="3088640"/>
            <a:ext cx="2980267" cy="589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Expand across Nigeria and West Africa · grow the learning economy · win large institutional contracts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11200" y="4140200"/>
            <a:ext cx="10769600" cy="1549400"/>
          </a:xfrm>
          <a:prstGeom prst="roundRect">
            <a:avLst>
              <a:gd name="adj" fmla="val 6557"/>
            </a:avLst>
          </a:prstGeom>
          <a:solidFill>
            <a:srgbClr val="1E2024"/>
          </a:solidFill>
          <a:ln/>
        </p:spPr>
      </p:sp>
      <p:sp>
        <p:nvSpPr>
          <p:cNvPr id="24" name="Text 22"/>
          <p:cNvSpPr/>
          <p:nvPr/>
        </p:nvSpPr>
        <p:spPr>
          <a:xfrm>
            <a:off x="1016000" y="4335018"/>
            <a:ext cx="5334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b="1" spc="120" kern="0" dirty="0">
                <a:solidFill>
                  <a:srgbClr val="717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ASK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1016000" y="4483608"/>
            <a:ext cx="3810000" cy="162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200" b="1" dirty="0">
                <a:solidFill>
                  <a:srgbClr val="EE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₦50,000,000</a:t>
            </a:r>
            <a:endParaRPr lang="en-US" sz="3200" dirty="0"/>
          </a:p>
        </p:txBody>
      </p:sp>
      <p:sp>
        <p:nvSpPr>
          <p:cNvPr id="26" name="Text 24"/>
          <p:cNvSpPr/>
          <p:nvPr/>
        </p:nvSpPr>
        <p:spPr>
          <a:xfrm>
            <a:off x="1016000" y="5093462"/>
            <a:ext cx="3810000" cy="597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turn a launched product into a scalable learning platform.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902200" y="4402328"/>
            <a:ext cx="558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537200" y="4495800"/>
            <a:ext cx="1524000" cy="88900"/>
          </a:xfrm>
          <a:prstGeom prst="roundRect">
            <a:avLst>
              <a:gd name="adj" fmla="val 42857"/>
            </a:avLst>
          </a:prstGeom>
          <a:solidFill>
            <a:srgbClr val="17181B"/>
          </a:solidFill>
          <a:ln/>
        </p:spPr>
      </p:sp>
      <p:sp>
        <p:nvSpPr>
          <p:cNvPr id="29" name="Shape 27"/>
          <p:cNvSpPr/>
          <p:nvPr/>
        </p:nvSpPr>
        <p:spPr>
          <a:xfrm>
            <a:off x="5537200" y="4495800"/>
            <a:ext cx="1524000" cy="88900"/>
          </a:xfrm>
          <a:prstGeom prst="roundRect">
            <a:avLst>
              <a:gd name="adj" fmla="val 42857"/>
            </a:avLst>
          </a:prstGeom>
          <a:solidFill>
            <a:srgbClr val="F5A524"/>
          </a:solidFill>
          <a:ln/>
        </p:spPr>
      </p:sp>
      <p:sp>
        <p:nvSpPr>
          <p:cNvPr id="30" name="Text 28"/>
          <p:cNvSpPr/>
          <p:nvPr/>
        </p:nvSpPr>
        <p:spPr>
          <a:xfrm>
            <a:off x="7239000" y="4407662"/>
            <a:ext cx="4241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Ulo learning hub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902200" y="4707128"/>
            <a:ext cx="558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EE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537200" y="4800600"/>
            <a:ext cx="1524000" cy="88900"/>
          </a:xfrm>
          <a:prstGeom prst="roundRect">
            <a:avLst>
              <a:gd name="adj" fmla="val 42857"/>
            </a:avLst>
          </a:prstGeom>
          <a:solidFill>
            <a:srgbClr val="17181B"/>
          </a:solidFill>
          <a:ln/>
        </p:spPr>
      </p:sp>
      <p:sp>
        <p:nvSpPr>
          <p:cNvPr id="33" name="Shape 31"/>
          <p:cNvSpPr/>
          <p:nvPr/>
        </p:nvSpPr>
        <p:spPr>
          <a:xfrm>
            <a:off x="5537200" y="4800600"/>
            <a:ext cx="1143000" cy="88900"/>
          </a:xfrm>
          <a:prstGeom prst="roundRect">
            <a:avLst>
              <a:gd name="adj" fmla="val 42857"/>
            </a:avLst>
          </a:prstGeom>
          <a:solidFill>
            <a:srgbClr val="EE1B24"/>
          </a:solidFill>
          <a:ln/>
        </p:spPr>
      </p:sp>
      <p:sp>
        <p:nvSpPr>
          <p:cNvPr id="34" name="Text 32"/>
          <p:cNvSpPr/>
          <p:nvPr/>
        </p:nvSpPr>
        <p:spPr>
          <a:xfrm>
            <a:off x="7239000" y="4712462"/>
            <a:ext cx="4241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Product, gamification and the UloX agentic curriculum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4902200" y="5011928"/>
            <a:ext cx="558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4E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18%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5537200" y="5105400"/>
            <a:ext cx="1524000" cy="88900"/>
          </a:xfrm>
          <a:prstGeom prst="roundRect">
            <a:avLst>
              <a:gd name="adj" fmla="val 42857"/>
            </a:avLst>
          </a:prstGeom>
          <a:solidFill>
            <a:srgbClr val="17181B"/>
          </a:solidFill>
          <a:ln/>
        </p:spPr>
      </p:sp>
      <p:sp>
        <p:nvSpPr>
          <p:cNvPr id="37" name="Shape 35"/>
          <p:cNvSpPr/>
          <p:nvPr/>
        </p:nvSpPr>
        <p:spPr>
          <a:xfrm>
            <a:off x="5537200" y="5105400"/>
            <a:ext cx="685800" cy="88900"/>
          </a:xfrm>
          <a:prstGeom prst="roundRect">
            <a:avLst>
              <a:gd name="adj" fmla="val 42857"/>
            </a:avLst>
          </a:prstGeom>
          <a:solidFill>
            <a:srgbClr val="4EA8FF"/>
          </a:solidFill>
          <a:ln/>
        </p:spPr>
      </p:sp>
      <p:sp>
        <p:nvSpPr>
          <p:cNvPr id="38" name="Text 36"/>
          <p:cNvSpPr/>
          <p:nvPr/>
        </p:nvSpPr>
        <p:spPr>
          <a:xfrm>
            <a:off x="7239000" y="5017262"/>
            <a:ext cx="4241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School, university and enterprise expansion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4902200" y="5316728"/>
            <a:ext cx="558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9B7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12%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5537200" y="5410200"/>
            <a:ext cx="1524000" cy="88900"/>
          </a:xfrm>
          <a:prstGeom prst="roundRect">
            <a:avLst>
              <a:gd name="adj" fmla="val 42857"/>
            </a:avLst>
          </a:prstGeom>
          <a:solidFill>
            <a:srgbClr val="17181B"/>
          </a:solidFill>
          <a:ln/>
        </p:spPr>
      </p:sp>
      <p:sp>
        <p:nvSpPr>
          <p:cNvPr id="41" name="Shape 39"/>
          <p:cNvSpPr/>
          <p:nvPr/>
        </p:nvSpPr>
        <p:spPr>
          <a:xfrm>
            <a:off x="5537200" y="5410200"/>
            <a:ext cx="457200" cy="88900"/>
          </a:xfrm>
          <a:prstGeom prst="roundRect">
            <a:avLst>
              <a:gd name="adj" fmla="val 42857"/>
            </a:avLst>
          </a:prstGeom>
          <a:solidFill>
            <a:srgbClr val="9B7BFF"/>
          </a:solidFill>
          <a:ln/>
        </p:spPr>
      </p:sp>
      <p:sp>
        <p:nvSpPr>
          <p:cNvPr id="42" name="Text 40"/>
          <p:cNvSpPr/>
          <p:nvPr/>
        </p:nvSpPr>
        <p:spPr>
          <a:xfrm>
            <a:off x="7239000" y="5322062"/>
            <a:ext cx="4241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Learn2Earn pilot and impact measurement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711200" y="6299200"/>
            <a:ext cx="10769600" cy="0"/>
          </a:xfrm>
          <a:prstGeom prst="line">
            <a:avLst/>
          </a:prstGeom>
          <a:noFill/>
          <a:ln w="12700">
            <a:solidFill>
              <a:srgbClr val="2B2E32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1200" y="6368796"/>
            <a:ext cx="508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spc="60" kern="0" dirty="0">
                <a:solidFill>
                  <a:srgbClr val="717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VerionX  ·  UloX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7670800" y="6368796"/>
            <a:ext cx="381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717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www.ulox.verionx.org   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0F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EE1B24"/>
          </a:solidFill>
          <a:ln/>
        </p:spPr>
      </p:sp>
      <p:sp>
        <p:nvSpPr>
          <p:cNvPr id="4" name="Shape 2"/>
          <p:cNvSpPr/>
          <p:nvPr/>
        </p:nvSpPr>
        <p:spPr>
          <a:xfrm>
            <a:off x="711200" y="1219200"/>
            <a:ext cx="254000" cy="76200"/>
          </a:xfrm>
          <a:prstGeom prst="roundRect">
            <a:avLst>
              <a:gd name="adj" fmla="val 50000"/>
            </a:avLst>
          </a:prstGeom>
          <a:solidFill>
            <a:srgbClr val="3FD07A"/>
          </a:solidFill>
          <a:ln/>
        </p:spPr>
      </p:sp>
      <p:sp>
        <p:nvSpPr>
          <p:cNvPr id="5" name="Shape 3"/>
          <p:cNvSpPr/>
          <p:nvPr/>
        </p:nvSpPr>
        <p:spPr>
          <a:xfrm>
            <a:off x="1092200" y="1219200"/>
            <a:ext cx="254000" cy="76200"/>
          </a:xfrm>
          <a:prstGeom prst="roundRect">
            <a:avLst>
              <a:gd name="adj" fmla="val 50000"/>
            </a:avLst>
          </a:prstGeom>
          <a:solidFill>
            <a:srgbClr val="52C98B"/>
          </a:solidFill>
          <a:ln/>
        </p:spPr>
      </p:sp>
      <p:sp>
        <p:nvSpPr>
          <p:cNvPr id="6" name="Shape 4"/>
          <p:cNvSpPr/>
          <p:nvPr/>
        </p:nvSpPr>
        <p:spPr>
          <a:xfrm>
            <a:off x="1473200" y="1219200"/>
            <a:ext cx="254000" cy="76200"/>
          </a:xfrm>
          <a:prstGeom prst="roundRect">
            <a:avLst>
              <a:gd name="adj" fmla="val 50000"/>
            </a:avLst>
          </a:prstGeom>
          <a:solidFill>
            <a:srgbClr val="4EA8FF"/>
          </a:solidFill>
          <a:ln/>
        </p:spPr>
      </p:sp>
      <p:sp>
        <p:nvSpPr>
          <p:cNvPr id="7" name="Shape 5"/>
          <p:cNvSpPr/>
          <p:nvPr/>
        </p:nvSpPr>
        <p:spPr>
          <a:xfrm>
            <a:off x="1854200" y="1219200"/>
            <a:ext cx="254000" cy="76200"/>
          </a:xfrm>
          <a:prstGeom prst="roundRect">
            <a:avLst>
              <a:gd name="adj" fmla="val 50000"/>
            </a:avLst>
          </a:prstGeom>
          <a:solidFill>
            <a:srgbClr val="7B8EFF"/>
          </a:solidFill>
          <a:ln/>
        </p:spPr>
      </p:sp>
      <p:sp>
        <p:nvSpPr>
          <p:cNvPr id="8" name="Shape 6"/>
          <p:cNvSpPr/>
          <p:nvPr/>
        </p:nvSpPr>
        <p:spPr>
          <a:xfrm>
            <a:off x="2235200" y="1219200"/>
            <a:ext cx="254000" cy="76200"/>
          </a:xfrm>
          <a:prstGeom prst="roundRect">
            <a:avLst>
              <a:gd name="adj" fmla="val 50000"/>
            </a:avLst>
          </a:prstGeom>
          <a:solidFill>
            <a:srgbClr val="9B7BFF"/>
          </a:solidFill>
          <a:ln/>
        </p:spPr>
      </p:sp>
      <p:sp>
        <p:nvSpPr>
          <p:cNvPr id="9" name="Shape 7"/>
          <p:cNvSpPr/>
          <p:nvPr/>
        </p:nvSpPr>
        <p:spPr>
          <a:xfrm>
            <a:off x="2616200" y="1219200"/>
            <a:ext cx="254000" cy="76200"/>
          </a:xfrm>
          <a:prstGeom prst="roundRect">
            <a:avLst>
              <a:gd name="adj" fmla="val 50000"/>
            </a:avLst>
          </a:prstGeom>
          <a:solidFill>
            <a:srgbClr val="B57BFF"/>
          </a:solidFill>
          <a:ln/>
        </p:spPr>
      </p:sp>
      <p:sp>
        <p:nvSpPr>
          <p:cNvPr id="10" name="Text 8"/>
          <p:cNvSpPr/>
          <p:nvPr/>
        </p:nvSpPr>
        <p:spPr>
          <a:xfrm>
            <a:off x="711200" y="1534160"/>
            <a:ext cx="9398000" cy="1820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future of work is not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711200" y="2143760"/>
            <a:ext cx="9398000" cy="1820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consuming more content.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711200" y="2804160"/>
            <a:ext cx="9398000" cy="1820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000" b="1" dirty="0">
                <a:solidFill>
                  <a:srgbClr val="EE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becoming more capable.</a:t>
            </a:r>
            <a:endParaRPr lang="en-US" sz="4000" dirty="0"/>
          </a:p>
        </p:txBody>
      </p:sp>
      <p:sp>
        <p:nvSpPr>
          <p:cNvPr id="13" name="Shape 11"/>
          <p:cNvSpPr/>
          <p:nvPr/>
        </p:nvSpPr>
        <p:spPr>
          <a:xfrm>
            <a:off x="711200" y="3886200"/>
            <a:ext cx="1524000" cy="0"/>
          </a:xfrm>
          <a:prstGeom prst="line">
            <a:avLst/>
          </a:prstGeom>
          <a:noFill/>
          <a:ln w="25400">
            <a:solidFill>
              <a:srgbClr val="EE1B2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11200" y="4119372"/>
            <a:ext cx="66040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exist to equip people with know-how to maximise their potential on earth.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11200" y="4678172"/>
            <a:ext cx="66040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the workforce for the future.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11200" y="5401818"/>
            <a:ext cx="6604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b="1" spc="130" kern="0" dirty="0">
                <a:solidFill>
                  <a:srgbClr val="717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it now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711200" y="5585968"/>
            <a:ext cx="6604000" cy="111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200" b="1" dirty="0">
                <a:solidFill>
                  <a:srgbClr val="EE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www.ulox.verionx.org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670800" y="5382260"/>
            <a:ext cx="3810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5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VerionX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670800" y="5682996"/>
            <a:ext cx="381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717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ITOLS is the intellectual property of Elijah Moses.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VerionX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VerionX — UloX 2026</dc:title>
  <dc:subject>PptxGenJS Presentation</dc:subject>
  <dc:creator>VerionX</dc:creator>
  <cp:lastModifiedBy>VerionX</cp:lastModifiedBy>
  <cp:revision>1</cp:revision>
  <dcterms:created xsi:type="dcterms:W3CDTF">2026-10-20T19:59:21Z</dcterms:created>
  <dcterms:modified xsi:type="dcterms:W3CDTF">2026-10-20T19:59:21Z</dcterms:modified>
</cp:coreProperties>
</file>