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room. VerionX already has 80,000 students in Nigerian classrooms through Ulo. UloX is the next rung: agentic engineering, free, live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access to AI is cheap now. Reliability is what teams cannot buy, and it is what nobody is teaching.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Mission and vision verbatim. Ulo and UloX are two stages of the same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continuous ladder. ITOLS is the grammar a learner carries up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Borrowed from chess: you study positions, not essays. The engine scores the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ITOLS is the IP, created by Elijah Moses and proprietary to VerionX. Five layers, three sub-layers each. Fifteen fields a reviewer can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steps, and the three things that took real work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Ulo numbers come from the 2026 deck. UloX numbers are what is live and countable in the product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markets stacked: the EdTech base Ulo already sells into, and the AI-skills gap UloX is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unchanged in size; this shows where UloX sits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room, and send them to the live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pic>
        <p:nvPicPr>
          <p:cNvPr id="3" name="Image 0" descr="C:\Users\HP 830 G7 COREI5\OneDrive\Desktop\Composio\ulox\deck\assets\ikoyi-class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69000" y="0"/>
            <a:ext cx="2159000" cy="6858000"/>
          </a:xfrm>
          <a:prstGeom prst="rect">
            <a:avLst/>
          </a:prstGeom>
          <a:solidFill>
            <a:srgbClr val="0E0F11">
              <a:alpha val="9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128000" y="0"/>
            <a:ext cx="4191000" cy="6858000"/>
          </a:xfrm>
          <a:prstGeom prst="rect">
            <a:avLst/>
          </a:prstGeom>
          <a:solidFill>
            <a:srgbClr val="0E0F11">
              <a:alpha val="2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7" name="Text 4"/>
          <p:cNvSpPr/>
          <p:nvPr/>
        </p:nvSpPr>
        <p:spPr>
          <a:xfrm>
            <a:off x="711200" y="1369060"/>
            <a:ext cx="584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spc="24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1200" y="1773428"/>
            <a:ext cx="5969000" cy="1623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workforce</a:t>
            </a:r>
            <a:endParaRPr lang="en-US" sz="3700" dirty="0"/>
          </a:p>
        </p:txBody>
      </p:sp>
      <p:sp>
        <p:nvSpPr>
          <p:cNvPr id="9" name="Text 6"/>
          <p:cNvSpPr/>
          <p:nvPr/>
        </p:nvSpPr>
        <p:spPr>
          <a:xfrm>
            <a:off x="711200" y="2306828"/>
            <a:ext cx="5969000" cy="1623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7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future.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711200" y="3330194"/>
            <a:ext cx="497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exist to equip people with know-how to maximise their potential on earth.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11200" y="4064000"/>
            <a:ext cx="1397000" cy="0"/>
          </a:xfrm>
          <a:prstGeom prst="line">
            <a:avLst/>
          </a:prstGeom>
          <a:noFill/>
          <a:ln w="25400">
            <a:solidFill>
              <a:srgbClr val="EE1B2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1200" y="4286504"/>
            <a:ext cx="5461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— mastering the utility of AI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11200" y="4607306"/>
            <a:ext cx="5461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engineering trainer. Free, and live in the browser.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11200" y="5262372"/>
            <a:ext cx="5461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271000" y="6395974"/>
            <a:ext cx="241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College, Ikoyi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WHERE THE GAP MOVED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call a model.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failures start after that.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489200"/>
            <a:ext cx="3437467" cy="1676400"/>
          </a:xfrm>
          <a:prstGeom prst="roundRect">
            <a:avLst>
              <a:gd name="adj" fmla="val 6061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489200"/>
            <a:ext cx="38100" cy="16764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489200"/>
            <a:ext cx="38100" cy="16764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8" name="Text 6"/>
          <p:cNvSpPr/>
          <p:nvPr/>
        </p:nvSpPr>
        <p:spPr>
          <a:xfrm>
            <a:off x="965200" y="2689860"/>
            <a:ext cx="292946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Calling a model is easy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5200" y="3059684"/>
            <a:ext cx="2929467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lines of code and an API key. Teams hit trouble after the first response, not before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7267" y="2489200"/>
            <a:ext cx="3437467" cy="1676400"/>
          </a:xfrm>
          <a:prstGeom prst="roundRect">
            <a:avLst>
              <a:gd name="adj" fmla="val 6061"/>
            </a:avLst>
          </a:prstGeom>
          <a:solidFill>
            <a:srgbClr val="17181B"/>
          </a:solidFill>
          <a:ln/>
        </p:spPr>
      </p:sp>
      <p:sp>
        <p:nvSpPr>
          <p:cNvPr id="11" name="Shape 9"/>
          <p:cNvSpPr/>
          <p:nvPr/>
        </p:nvSpPr>
        <p:spPr>
          <a:xfrm>
            <a:off x="4377267" y="2489200"/>
            <a:ext cx="38100" cy="16764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2" name="Shape 10"/>
          <p:cNvSpPr/>
          <p:nvPr/>
        </p:nvSpPr>
        <p:spPr>
          <a:xfrm>
            <a:off x="4377267" y="2489200"/>
            <a:ext cx="38100" cy="16764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3" name="Text 11"/>
          <p:cNvSpPr/>
          <p:nvPr/>
        </p:nvSpPr>
        <p:spPr>
          <a:xfrm>
            <a:off x="4631267" y="2689860"/>
            <a:ext cx="292946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fail in production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31267" y="3059684"/>
            <a:ext cx="2929467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stall, loop without stopping, leak data through tool output and burn budget. Teams find out when a customer does.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3333" y="2489200"/>
            <a:ext cx="3437467" cy="1676400"/>
          </a:xfrm>
          <a:prstGeom prst="roundRect">
            <a:avLst>
              <a:gd name="adj" fmla="val 6061"/>
            </a:avLst>
          </a:prstGeom>
          <a:solidFill>
            <a:srgbClr val="17181B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3333" y="2489200"/>
            <a:ext cx="38100" cy="16764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43333" y="2489200"/>
            <a:ext cx="38100" cy="16764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97333" y="2689860"/>
            <a:ext cx="292946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stops at the prompt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97333" y="3059684"/>
            <a:ext cx="2929467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 teach you how to word a request. They skip context, harness, loop, graph and safety.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1200" y="4445000"/>
            <a:ext cx="10769600" cy="1219200"/>
          </a:xfrm>
          <a:prstGeom prst="roundRect">
            <a:avLst>
              <a:gd name="adj" fmla="val 8333"/>
            </a:avLst>
          </a:prstGeom>
          <a:solidFill>
            <a:srgbClr val="1E2024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000" y="4639818"/>
            <a:ext cx="508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WORKING AGENT ACTUALLY NEEDS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16000" y="4860544"/>
            <a:ext cx="3234267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016000" y="5323840"/>
            <a:ext cx="3234267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disciplines, from prompt through to agentic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78867" y="4860544"/>
            <a:ext cx="3234267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478867" y="5323840"/>
            <a:ext cx="3234267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six that most courses reach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41733" y="4860544"/>
            <a:ext cx="3234267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41733" y="5323840"/>
            <a:ext cx="3234267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 UloX drills by hand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WHY VERIONX EXISTS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 and UloX answer the same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at two different stages.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362200"/>
            <a:ext cx="5334000" cy="1727200"/>
          </a:xfrm>
          <a:prstGeom prst="roundRect">
            <a:avLst>
              <a:gd name="adj" fmla="val 5882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362200"/>
            <a:ext cx="38100" cy="17272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" y="2557018"/>
            <a:ext cx="482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4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0600" y="2820416"/>
            <a:ext cx="4775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exist to equip people with know-how to maximise their potential on earth.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1200" y="4241800"/>
            <a:ext cx="533400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10" name="Shape 8"/>
          <p:cNvSpPr/>
          <p:nvPr/>
        </p:nvSpPr>
        <p:spPr>
          <a:xfrm>
            <a:off x="711200" y="4241800"/>
            <a:ext cx="38100" cy="1422400"/>
          </a:xfrm>
          <a:prstGeom prst="rect">
            <a:avLst/>
          </a:prstGeom>
          <a:solidFill>
            <a:srgbClr val="7B8E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4436618"/>
            <a:ext cx="4826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40" kern="0" dirty="0">
                <a:solidFill>
                  <a:srgbClr val="7B8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90600" y="4700016"/>
            <a:ext cx="4775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workforce for the future.</a:t>
            </a:r>
            <a:endParaRPr lang="en-US" sz="1400" dirty="0"/>
          </a:p>
        </p:txBody>
      </p:sp>
      <p:pic>
        <p:nvPicPr>
          <p:cNvPr id="13" name="Image 0" descr="C:\Users\HP 830 G7 COREI5\OneDrive\Desktop\Composio\ulox\deck\assets\ikeja-stude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0000" y="2362200"/>
            <a:ext cx="5130800" cy="19050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350000" y="3937000"/>
            <a:ext cx="5130800" cy="330200"/>
          </a:xfrm>
          <a:prstGeom prst="rect">
            <a:avLst/>
          </a:prstGeom>
          <a:solidFill>
            <a:srgbClr val="0E0F11">
              <a:alpha val="72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6477000" y="3995674"/>
            <a:ext cx="4876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Ikeja High School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350000" y="4436618"/>
            <a:ext cx="51308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ONE FITS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350000" y="4710684"/>
            <a:ext cx="51308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Ulo: gamified learning for school-age Nigeria. Learn, play, practise, prove, earn.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50000" y="5193284"/>
            <a:ext cx="51308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UloX: agentic engineering for the people who will build and run the systems.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HOW THE TWO CONNECT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ladder, from a first lesson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shipped system.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489200"/>
            <a:ext cx="2011680" cy="508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7" name="Text 5"/>
          <p:cNvSpPr/>
          <p:nvPr/>
        </p:nvSpPr>
        <p:spPr>
          <a:xfrm>
            <a:off x="88900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900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8900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become play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3558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0068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0680" y="2489200"/>
            <a:ext cx="2011680" cy="508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3" name="Text 11"/>
          <p:cNvSpPr/>
          <p:nvPr/>
        </p:nvSpPr>
        <p:spPr>
          <a:xfrm>
            <a:off x="307848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07848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7848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and streaks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2506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9016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5090160" y="2489200"/>
            <a:ext cx="2011680" cy="508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9" name="Text 17"/>
          <p:cNvSpPr/>
          <p:nvPr/>
        </p:nvSpPr>
        <p:spPr>
          <a:xfrm>
            <a:off x="526796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6796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6796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Skill, not completion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1454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7964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24" name="Shape 22"/>
          <p:cNvSpPr/>
          <p:nvPr/>
        </p:nvSpPr>
        <p:spPr>
          <a:xfrm>
            <a:off x="7279640" y="2489200"/>
            <a:ext cx="2011680" cy="508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25" name="Text 23"/>
          <p:cNvSpPr/>
          <p:nvPr/>
        </p:nvSpPr>
        <p:spPr>
          <a:xfrm>
            <a:off x="745744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45744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5744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broken agents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304020" y="3045460"/>
            <a:ext cx="152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469120" y="2489200"/>
            <a:ext cx="2011680" cy="1422400"/>
          </a:xfrm>
          <a:prstGeom prst="roundRect">
            <a:avLst>
              <a:gd name="adj" fmla="val 7143"/>
            </a:avLst>
          </a:prstGeom>
          <a:solidFill>
            <a:srgbClr val="17181B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9120" y="2489200"/>
            <a:ext cx="2011680" cy="508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2673350"/>
            <a:ext cx="16560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646920" y="2939796"/>
            <a:ext cx="165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646920" y="3190240"/>
            <a:ext cx="165608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Bounded, observable systems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1200" y="4267200"/>
            <a:ext cx="10769600" cy="1422400"/>
          </a:xfrm>
          <a:prstGeom prst="roundRect">
            <a:avLst>
              <a:gd name="adj" fmla="val 7143"/>
            </a:avLst>
          </a:prstGeom>
          <a:solidFill>
            <a:srgbClr val="1E2024"/>
          </a:solidFill>
          <a:ln/>
        </p:spPr>
      </p:sp>
      <p:sp>
        <p:nvSpPr>
          <p:cNvPr id="35" name="Text 33"/>
          <p:cNvSpPr/>
          <p:nvPr/>
        </p:nvSpPr>
        <p:spPr>
          <a:xfrm>
            <a:off x="1016000" y="44874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UNDERNEATH BOTH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16000" y="4708144"/>
            <a:ext cx="5334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ITOLS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1016000" y="5193284"/>
            <a:ext cx="5588000" cy="62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proprietary VerionX framework for writing an AI instruction you can test.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54800" y="4761484"/>
            <a:ext cx="4521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 teaches a student how to learn. UloX teaches an engineer how to build. Both run on ITOLS, so someone climbing from one to the other keeps the same way of instructing a model.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ULOX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hands you a broken agent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asks you to repair it.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11200" y="1962150"/>
            <a:ext cx="787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comes from chess training, where players work through positions instead of reading essays about chess.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11200" y="25908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5908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8" name="Shape 6"/>
          <p:cNvSpPr/>
          <p:nvPr/>
        </p:nvSpPr>
        <p:spPr>
          <a:xfrm>
            <a:off x="711200" y="2590800"/>
            <a:ext cx="38100" cy="13208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9" name="Text 7"/>
          <p:cNvSpPr/>
          <p:nvPr/>
        </p:nvSpPr>
        <p:spPr>
          <a:xfrm>
            <a:off x="965200" y="27696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drill starts broken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5200" y="30868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unbounded loop. A router with two branches that both match. A guard that logs an attack and lets it through anyway.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23000" y="25908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6223000" y="25908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23000" y="2590800"/>
            <a:ext cx="38100" cy="1320800"/>
          </a:xfrm>
          <a:prstGeom prst="rect">
            <a:avLst/>
          </a:prstGeom>
          <a:solidFill>
            <a:srgbClr val="52C98B"/>
          </a:solidFill>
          <a:ln/>
        </p:spPr>
      </p:sp>
      <p:sp>
        <p:nvSpPr>
          <p:cNvPr id="14" name="Text 12"/>
          <p:cNvSpPr/>
          <p:nvPr/>
        </p:nvSpPr>
        <p:spPr>
          <a:xfrm>
            <a:off x="6477000" y="27696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search engine scores your fix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77000" y="30868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beam search solves the position first, so the hint you get is the opening move of a line that actually works.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1200" y="40894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17" name="Shape 15"/>
          <p:cNvSpPr/>
          <p:nvPr/>
        </p:nvSpPr>
        <p:spPr>
          <a:xfrm>
            <a:off x="711200" y="40894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8" name="Shape 16"/>
          <p:cNvSpPr/>
          <p:nvPr/>
        </p:nvSpPr>
        <p:spPr>
          <a:xfrm>
            <a:off x="711200" y="4089400"/>
            <a:ext cx="38100" cy="13208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5200" y="42682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simulator runs it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5200" y="45854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repair executes against mock tool responses. You watch it hold, or watch it fall over.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23000" y="4089400"/>
            <a:ext cx="5257800" cy="1320800"/>
          </a:xfrm>
          <a:prstGeom prst="roundRect">
            <a:avLst>
              <a:gd name="adj" fmla="val 7692"/>
            </a:avLst>
          </a:prstGeom>
          <a:solidFill>
            <a:srgbClr val="17181B"/>
          </a:solidFill>
          <a:ln/>
        </p:spPr>
      </p:sp>
      <p:sp>
        <p:nvSpPr>
          <p:cNvPr id="22" name="Shape 20"/>
          <p:cNvSpPr/>
          <p:nvPr/>
        </p:nvSpPr>
        <p:spPr>
          <a:xfrm>
            <a:off x="6223000" y="4089400"/>
            <a:ext cx="38100" cy="13208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223000" y="4089400"/>
            <a:ext cx="38100" cy="1320800"/>
          </a:xfrm>
          <a:prstGeom prst="rect">
            <a:avLst/>
          </a:prstGeom>
          <a:solidFill>
            <a:srgbClr val="7B8E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7000" y="4268216"/>
            <a:ext cx="47498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Rated on what you solved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77000" y="4585462"/>
            <a:ext cx="474980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Glicko-2 ratings move with your results, in single player and in rated matches against other engineers.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THE FRAMEWORK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42696"/>
            <a:ext cx="10769600" cy="1575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ITOLS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082800" y="944372"/>
            <a:ext cx="5842000" cy="739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 that turn a prompt into a contract you can test.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05800" y="602996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b="1" spc="11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PROPRIETARY VERIONX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05800" y="780796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by Elijah Moses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1200" y="17272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9" name="Shape 7"/>
          <p:cNvSpPr/>
          <p:nvPr/>
        </p:nvSpPr>
        <p:spPr>
          <a:xfrm>
            <a:off x="711200" y="1727200"/>
            <a:ext cx="50800" cy="7112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10" name="Shape 8"/>
          <p:cNvSpPr/>
          <p:nvPr/>
        </p:nvSpPr>
        <p:spPr>
          <a:xfrm>
            <a:off x="939800" y="18796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3FD07A"/>
          </a:solidFill>
          <a:ln/>
        </p:spPr>
      </p:sp>
      <p:sp>
        <p:nvSpPr>
          <p:cNvPr id="11" name="Text 9"/>
          <p:cNvSpPr/>
          <p:nvPr/>
        </p:nvSpPr>
        <p:spPr>
          <a:xfrm>
            <a:off x="939800" y="19116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98600" y="18389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98600" y="21234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agent is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38600" y="19050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15" name="Text 13"/>
          <p:cNvSpPr/>
          <p:nvPr/>
        </p:nvSpPr>
        <p:spPr>
          <a:xfrm>
            <a:off x="4038600" y="19674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34667" y="19050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34667" y="19674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30733" y="19050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19" name="Text 17"/>
          <p:cNvSpPr/>
          <p:nvPr/>
        </p:nvSpPr>
        <p:spPr>
          <a:xfrm>
            <a:off x="8830733" y="19674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Affirmation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1200" y="25400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21" name="Shape 19"/>
          <p:cNvSpPr/>
          <p:nvPr/>
        </p:nvSpPr>
        <p:spPr>
          <a:xfrm>
            <a:off x="711200" y="2540000"/>
            <a:ext cx="50800" cy="711200"/>
          </a:xfrm>
          <a:prstGeom prst="rect">
            <a:avLst/>
          </a:prstGeom>
          <a:solidFill>
            <a:srgbClr val="52C98B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800" y="26924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52C98B"/>
          </a:solidFill>
          <a:ln/>
        </p:spPr>
      </p:sp>
      <p:sp>
        <p:nvSpPr>
          <p:cNvPr id="23" name="Text 21"/>
          <p:cNvSpPr/>
          <p:nvPr/>
        </p:nvSpPr>
        <p:spPr>
          <a:xfrm>
            <a:off x="939800" y="27244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98600" y="26517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52C9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98600" y="29362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must 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38600" y="27178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27" name="Text 25"/>
          <p:cNvSpPr/>
          <p:nvPr/>
        </p:nvSpPr>
        <p:spPr>
          <a:xfrm>
            <a:off x="4038600" y="27802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34667" y="27178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434667" y="27802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30733" y="27178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31" name="Text 29"/>
          <p:cNvSpPr/>
          <p:nvPr/>
        </p:nvSpPr>
        <p:spPr>
          <a:xfrm>
            <a:off x="8830733" y="27802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/ Object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1200" y="33528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33" name="Shape 31"/>
          <p:cNvSpPr/>
          <p:nvPr/>
        </p:nvSpPr>
        <p:spPr>
          <a:xfrm>
            <a:off x="711200" y="3352800"/>
            <a:ext cx="50800" cy="7112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34" name="Shape 32"/>
          <p:cNvSpPr/>
          <p:nvPr/>
        </p:nvSpPr>
        <p:spPr>
          <a:xfrm>
            <a:off x="939800" y="35052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4EA8FF"/>
          </a:solidFill>
          <a:ln/>
        </p:spPr>
      </p:sp>
      <p:sp>
        <p:nvSpPr>
          <p:cNvPr id="35" name="Text 33"/>
          <p:cNvSpPr/>
          <p:nvPr/>
        </p:nvSpPr>
        <p:spPr>
          <a:xfrm>
            <a:off x="939800" y="35372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498600" y="34645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498600" y="37490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finished looks like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38600" y="35306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39" name="Text 37"/>
          <p:cNvSpPr/>
          <p:nvPr/>
        </p:nvSpPr>
        <p:spPr>
          <a:xfrm>
            <a:off x="4038600" y="35930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34667" y="35306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41" name="Text 39"/>
          <p:cNvSpPr/>
          <p:nvPr/>
        </p:nvSpPr>
        <p:spPr>
          <a:xfrm>
            <a:off x="6434667" y="35930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830733" y="35306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43" name="Text 41"/>
          <p:cNvSpPr/>
          <p:nvPr/>
        </p:nvSpPr>
        <p:spPr>
          <a:xfrm>
            <a:off x="8830733" y="35930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11200" y="41656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45" name="Shape 43"/>
          <p:cNvSpPr/>
          <p:nvPr/>
        </p:nvSpPr>
        <p:spPr>
          <a:xfrm>
            <a:off x="711200" y="4165600"/>
            <a:ext cx="50800" cy="711200"/>
          </a:xfrm>
          <a:prstGeom prst="rect">
            <a:avLst/>
          </a:prstGeom>
          <a:solidFill>
            <a:srgbClr val="7B8EFF"/>
          </a:solidFill>
          <a:ln/>
        </p:spPr>
      </p:sp>
      <p:sp>
        <p:nvSpPr>
          <p:cNvPr id="46" name="Shape 44"/>
          <p:cNvSpPr/>
          <p:nvPr/>
        </p:nvSpPr>
        <p:spPr>
          <a:xfrm>
            <a:off x="939800" y="43180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7B8EFF"/>
          </a:solidFill>
          <a:ln/>
        </p:spPr>
      </p:sp>
      <p:sp>
        <p:nvSpPr>
          <p:cNvPr id="47" name="Text 45"/>
          <p:cNvSpPr/>
          <p:nvPr/>
        </p:nvSpPr>
        <p:spPr>
          <a:xfrm>
            <a:off x="939800" y="43500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498600" y="42773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7B8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498600" y="45618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must speak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038600" y="43434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51" name="Text 49"/>
          <p:cNvSpPr/>
          <p:nvPr/>
        </p:nvSpPr>
        <p:spPr>
          <a:xfrm>
            <a:off x="4038600" y="44058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4667" y="43434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53" name="Text 51"/>
          <p:cNvSpPr/>
          <p:nvPr/>
        </p:nvSpPr>
        <p:spPr>
          <a:xfrm>
            <a:off x="6434667" y="44058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Composure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830733" y="43434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55" name="Text 53"/>
          <p:cNvSpPr/>
          <p:nvPr/>
        </p:nvSpPr>
        <p:spPr>
          <a:xfrm>
            <a:off x="8830733" y="44058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11200" y="4978400"/>
            <a:ext cx="10769600" cy="711200"/>
          </a:xfrm>
          <a:prstGeom prst="roundRect">
            <a:avLst>
              <a:gd name="adj" fmla="val 10714"/>
            </a:avLst>
          </a:prstGeom>
          <a:solidFill>
            <a:srgbClr val="17181B"/>
          </a:solidFill>
          <a:ln/>
        </p:spPr>
      </p:sp>
      <p:sp>
        <p:nvSpPr>
          <p:cNvPr id="57" name="Shape 55"/>
          <p:cNvSpPr/>
          <p:nvPr/>
        </p:nvSpPr>
        <p:spPr>
          <a:xfrm>
            <a:off x="711200" y="4978400"/>
            <a:ext cx="50800" cy="7112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58" name="Shape 56"/>
          <p:cNvSpPr/>
          <p:nvPr/>
        </p:nvSpPr>
        <p:spPr>
          <a:xfrm>
            <a:off x="939800" y="5130800"/>
            <a:ext cx="406400" cy="406400"/>
          </a:xfrm>
          <a:prstGeom prst="roundRect">
            <a:avLst>
              <a:gd name="adj" fmla="val 18750"/>
            </a:avLst>
          </a:prstGeom>
          <a:solidFill>
            <a:srgbClr val="9B7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39800" y="5162804"/>
            <a:ext cx="40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E0F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1498600" y="509016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498600" y="5374640"/>
            <a:ext cx="228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must never do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038600" y="51562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63" name="Text 61"/>
          <p:cNvSpPr/>
          <p:nvPr/>
        </p:nvSpPr>
        <p:spPr>
          <a:xfrm>
            <a:off x="4038600" y="52186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34667" y="51562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65" name="Text 63"/>
          <p:cNvSpPr/>
          <p:nvPr/>
        </p:nvSpPr>
        <p:spPr>
          <a:xfrm>
            <a:off x="6434667" y="52186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830733" y="5156200"/>
            <a:ext cx="2243667" cy="355600"/>
          </a:xfrm>
          <a:prstGeom prst="roundRect">
            <a:avLst>
              <a:gd name="adj" fmla="val 17857"/>
            </a:avLst>
          </a:prstGeom>
          <a:solidFill>
            <a:srgbClr val="1E2024"/>
          </a:solidFill>
          <a:ln/>
        </p:spPr>
      </p:sp>
      <p:sp>
        <p:nvSpPr>
          <p:cNvPr id="67" name="Text 65"/>
          <p:cNvSpPr/>
          <p:nvPr/>
        </p:nvSpPr>
        <p:spPr>
          <a:xfrm>
            <a:off x="8830733" y="5218684"/>
            <a:ext cx="22436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711200" y="5830062"/>
            <a:ext cx="1076960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Fifteen fields a reviewer can check, in place of a paragraph of prose. UloX teaches, drills and scores all five layers.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THE LOOP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discipline runs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four steps.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438400"/>
            <a:ext cx="2540000" cy="508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idea, written at the level you picked.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544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10" name="Shape 8"/>
          <p:cNvSpPr/>
          <p:nvPr/>
        </p:nvSpPr>
        <p:spPr>
          <a:xfrm>
            <a:off x="3454400" y="2438400"/>
            <a:ext cx="2540000" cy="508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broken system, repaired inside a move limit.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976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14" name="Shape 12"/>
          <p:cNvSpPr/>
          <p:nvPr/>
        </p:nvSpPr>
        <p:spPr>
          <a:xfrm>
            <a:off x="6197600" y="2438400"/>
            <a:ext cx="2540000" cy="508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pattern from nothing, graded by the simulator.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40800" y="2438400"/>
            <a:ext cx="2540000" cy="1219200"/>
          </a:xfrm>
          <a:prstGeom prst="roundRect">
            <a:avLst>
              <a:gd name="adj" fmla="val 8333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8940800" y="2438400"/>
            <a:ext cx="2540000" cy="508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0" y="2620772"/>
            <a:ext cx="2133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0" y="2910840"/>
            <a:ext cx="2133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certificate carrying a code anyone can check.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1200" y="3962400"/>
            <a:ext cx="10769600" cy="1727200"/>
          </a:xfrm>
          <a:prstGeom prst="roundRect">
            <a:avLst>
              <a:gd name="adj" fmla="val 5882"/>
            </a:avLst>
          </a:prstGeom>
          <a:solidFill>
            <a:srgbClr val="1E2024"/>
          </a:solidFill>
          <a:ln/>
        </p:spPr>
      </p:sp>
      <p:sp>
        <p:nvSpPr>
          <p:cNvPr id="22" name="Text 20"/>
          <p:cNvSpPr/>
          <p:nvPr/>
        </p:nvSpPr>
        <p:spPr>
          <a:xfrm>
            <a:off x="1016000" y="41826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THAT TOOK TIME TO BUILD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16000" y="4476750"/>
            <a:ext cx="321733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52C9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Drills we verified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16000" y="4765040"/>
            <a:ext cx="3217333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script brute-forces all 18 before release. Each one must be solvable inside its move limit, must not already be solved, and must be reachable by the hint the app gives.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7333" y="4476750"/>
            <a:ext cx="321733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you earn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87333" y="4765040"/>
            <a:ext cx="3217333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re-derives every requirement before it issues one. A learner cannot tick the build step for themselves.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958667" y="4476750"/>
            <a:ext cx="321733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7B8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loop back in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58667" y="4765040"/>
            <a:ext cx="3217333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a build and anyone can open the link, replay the run and fork it into their own Lab.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PROOF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past the idea stage.</a:t>
            </a:r>
            <a:endParaRPr lang="en-US" sz="3000" dirty="0"/>
          </a:p>
        </p:txBody>
      </p:sp>
      <p:pic>
        <p:nvPicPr>
          <p:cNvPr id="5" name="Image 0" descr="C:\Users\HP 830 G7 COREI5\OneDrive\Desktop\Composio\ulox\deck\assets\owerri-assembl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1200" y="1600200"/>
            <a:ext cx="2489200" cy="1498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1200" y="2768600"/>
            <a:ext cx="2489200" cy="330200"/>
          </a:xfrm>
          <a:prstGeom prst="rect">
            <a:avLst/>
          </a:prstGeom>
          <a:solidFill>
            <a:srgbClr val="0E0F11">
              <a:alpha val="72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838200" y="2827274"/>
            <a:ext cx="223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Owerri City High School</a:t>
            </a:r>
            <a:endParaRPr lang="en-US" sz="850" dirty="0"/>
          </a:p>
        </p:txBody>
      </p:sp>
      <p:pic>
        <p:nvPicPr>
          <p:cNvPr id="8" name="Image 1" descr="C:\Users\HP 830 G7 COREI5\OneDrive\Desktop\Composio\ulox\deck\assets\calabar-lineup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7400" y="1600200"/>
            <a:ext cx="2489200" cy="1498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27400" y="2768600"/>
            <a:ext cx="2489200" cy="330200"/>
          </a:xfrm>
          <a:prstGeom prst="rect">
            <a:avLst/>
          </a:prstGeom>
          <a:solidFill>
            <a:srgbClr val="0E0F11">
              <a:alpha val="72000"/>
            </a:srgbClr>
          </a:solidFill>
          <a:ln/>
        </p:spPr>
      </p:sp>
      <p:sp>
        <p:nvSpPr>
          <p:cNvPr id="10" name="Text 6"/>
          <p:cNvSpPr/>
          <p:nvPr/>
        </p:nvSpPr>
        <p:spPr>
          <a:xfrm>
            <a:off x="3454400" y="2827274"/>
            <a:ext cx="223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Holy Child, Calabar</a:t>
            </a:r>
            <a:endParaRPr lang="en-US" sz="850" dirty="0"/>
          </a:p>
        </p:txBody>
      </p:sp>
      <p:pic>
        <p:nvPicPr>
          <p:cNvPr id="11" name="Image 2" descr="C:\Users\HP 830 G7 COREI5\OneDrive\Desktop\Composio\ulox\deck\assets\activation-assembl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0" y="1600200"/>
            <a:ext cx="2489200" cy="1498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943600" y="2768600"/>
            <a:ext cx="2489200" cy="330200"/>
          </a:xfrm>
          <a:prstGeom prst="rect">
            <a:avLst/>
          </a:prstGeom>
          <a:solidFill>
            <a:srgbClr val="0E0F11">
              <a:alpha val="72000"/>
            </a:srgbClr>
          </a:solidFill>
          <a:ln/>
        </p:spPr>
      </p:sp>
      <p:sp>
        <p:nvSpPr>
          <p:cNvPr id="13" name="Text 8"/>
          <p:cNvSpPr/>
          <p:nvPr/>
        </p:nvSpPr>
        <p:spPr>
          <a:xfrm>
            <a:off x="6070600" y="2827274"/>
            <a:ext cx="223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school activation</a:t>
            </a:r>
            <a:endParaRPr lang="en-US" sz="850" dirty="0"/>
          </a:p>
        </p:txBody>
      </p:sp>
      <p:pic>
        <p:nvPicPr>
          <p:cNvPr id="14" name="Image 3" descr="C:\Users\HP 830 G7 COREI5\OneDrive\Desktop\Composio\ulox\deck\assets\community-outreach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559800" y="1600200"/>
            <a:ext cx="2921000" cy="149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59800" y="2768600"/>
            <a:ext cx="2921000" cy="330200"/>
          </a:xfrm>
          <a:prstGeom prst="rect">
            <a:avLst/>
          </a:prstGeom>
          <a:solidFill>
            <a:srgbClr val="0E0F11">
              <a:alpha val="72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8686800" y="2827274"/>
            <a:ext cx="266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drive, Lagos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711200" y="3293618"/>
            <a:ext cx="711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 — WHAT THE OUTREACH HAS REACHED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711200" y="35214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711200" y="39522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engaged in 10 months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2900680" y="35214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2900680" y="39522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schools activated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5090160" y="35214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5090160" y="39522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universities engaged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7279640" y="35214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1.2M+</a:t>
            </a:r>
            <a:endParaRPr lang="en-US" sz="2400" dirty="0"/>
          </a:p>
        </p:txBody>
      </p:sp>
      <p:sp>
        <p:nvSpPr>
          <p:cNvPr id="25" name="Text 19"/>
          <p:cNvSpPr/>
          <p:nvPr/>
        </p:nvSpPr>
        <p:spPr>
          <a:xfrm>
            <a:off x="7279640" y="39522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via Nigeria Teachers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9469120" y="35214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2400" dirty="0"/>
          </a:p>
        </p:txBody>
      </p:sp>
      <p:sp>
        <p:nvSpPr>
          <p:cNvPr id="27" name="Text 21"/>
          <p:cNvSpPr/>
          <p:nvPr/>
        </p:nvSpPr>
        <p:spPr>
          <a:xfrm>
            <a:off x="9469120" y="39522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ambassadors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711200" y="4521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1200" y="4639818"/>
            <a:ext cx="711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— WHAT IS LIVE TODAY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711200" y="48676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400" dirty="0"/>
          </a:p>
        </p:txBody>
      </p:sp>
      <p:sp>
        <p:nvSpPr>
          <p:cNvPr id="31" name="Text 25"/>
          <p:cNvSpPr/>
          <p:nvPr/>
        </p:nvSpPr>
        <p:spPr>
          <a:xfrm>
            <a:off x="711200" y="52984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drills, each proved solvable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2900680" y="48676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2900680" y="52984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disciplines with guided builds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090160" y="48676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2400" dirty="0"/>
          </a:p>
        </p:txBody>
      </p:sp>
      <p:sp>
        <p:nvSpPr>
          <p:cNvPr id="35" name="Text 29"/>
          <p:cNvSpPr/>
          <p:nvPr/>
        </p:nvSpPr>
        <p:spPr>
          <a:xfrm>
            <a:off x="5090160" y="52984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roadmaps pulled live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7279640" y="48676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2400" dirty="0"/>
          </a:p>
        </p:txBody>
      </p:sp>
      <p:sp>
        <p:nvSpPr>
          <p:cNvPr id="37" name="Text 31"/>
          <p:cNvSpPr/>
          <p:nvPr/>
        </p:nvSpPr>
        <p:spPr>
          <a:xfrm>
            <a:off x="7279640" y="52984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glossary terms, alias-aware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469120" y="4867656"/>
            <a:ext cx="201168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</a:t>
            </a:r>
            <a:endParaRPr lang="en-US" sz="2400" dirty="0"/>
          </a:p>
        </p:txBody>
      </p:sp>
      <p:sp>
        <p:nvSpPr>
          <p:cNvPr id="39" name="Text 33"/>
          <p:cNvSpPr/>
          <p:nvPr/>
        </p:nvSpPr>
        <p:spPr>
          <a:xfrm>
            <a:off x="9469120" y="5298440"/>
            <a:ext cx="201168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field notes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711200" y="5833618"/>
            <a:ext cx="10769600" cy="54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Government: co-partner on the national refugee re-skilling programme. Nigeria Teachers (1.2M+ members). UNILAG, FUTO, UNICAL, LASU, UNIBEN and Bauchi State University. Ten AI labs being set up in schools.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MARKET AND TIMING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million students, and almost no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in how AI systems fail.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235200"/>
            <a:ext cx="38100" cy="16256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8" name="Text 6"/>
          <p:cNvSpPr/>
          <p:nvPr/>
        </p:nvSpPr>
        <p:spPr>
          <a:xfrm>
            <a:off x="9398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$10B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398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Africa's EdTech market by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398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HolonIQ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544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4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54400" y="2235200"/>
            <a:ext cx="38100" cy="16256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14" name="Text 12"/>
          <p:cNvSpPr/>
          <p:nvPr/>
        </p:nvSpPr>
        <p:spPr>
          <a:xfrm>
            <a:off x="36830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830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Nigeria alone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830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UNESCO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976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61976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7600" y="2235200"/>
            <a:ext cx="38100" cy="1625600"/>
          </a:xfrm>
          <a:prstGeom prst="rect">
            <a:avLst/>
          </a:prstGeom>
          <a:solidFill>
            <a:srgbClr val="F5A524"/>
          </a:solidFill>
          <a:ln/>
        </p:spPr>
      </p:sp>
      <p:sp>
        <p:nvSpPr>
          <p:cNvPr id="20" name="Text 18"/>
          <p:cNvSpPr/>
          <p:nvPr/>
        </p:nvSpPr>
        <p:spPr>
          <a:xfrm>
            <a:off x="64262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262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Nigerians are under 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262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DESA / NBS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940800" y="2235200"/>
            <a:ext cx="2540000" cy="1625600"/>
          </a:xfrm>
          <a:prstGeom prst="roundRect">
            <a:avLst>
              <a:gd name="adj" fmla="val 6250"/>
            </a:avLst>
          </a:prstGeom>
          <a:solidFill>
            <a:srgbClr val="17181B"/>
          </a:solidFill>
          <a:ln/>
        </p:spPr>
      </p:sp>
      <p:sp>
        <p:nvSpPr>
          <p:cNvPr id="24" name="Shape 22"/>
          <p:cNvSpPr/>
          <p:nvPr/>
        </p:nvSpPr>
        <p:spPr>
          <a:xfrm>
            <a:off x="8940800" y="2235200"/>
            <a:ext cx="38100" cy="16256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25" name="Shape 23"/>
          <p:cNvSpPr/>
          <p:nvPr/>
        </p:nvSpPr>
        <p:spPr>
          <a:xfrm>
            <a:off x="8940800" y="2235200"/>
            <a:ext cx="38100" cy="16256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26" name="Text 24"/>
          <p:cNvSpPr/>
          <p:nvPr/>
        </p:nvSpPr>
        <p:spPr>
          <a:xfrm>
            <a:off x="9169400" y="2382520"/>
            <a:ext cx="208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169400" y="2910840"/>
            <a:ext cx="20828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and youth out of school in sub-Saharan Africa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169400" y="3424174"/>
            <a:ext cx="2082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spc="8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UNESCO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1200" y="4140200"/>
            <a:ext cx="10769600" cy="1524000"/>
          </a:xfrm>
          <a:prstGeom prst="roundRect">
            <a:avLst>
              <a:gd name="adj" fmla="val 6667"/>
            </a:avLst>
          </a:prstGeom>
          <a:solidFill>
            <a:srgbClr val="1E2024"/>
          </a:solidFill>
          <a:ln/>
        </p:spPr>
      </p:sp>
      <p:sp>
        <p:nvSpPr>
          <p:cNvPr id="30" name="Text 28"/>
          <p:cNvSpPr/>
          <p:nvPr/>
        </p:nvSpPr>
        <p:spPr>
          <a:xfrm>
            <a:off x="1016000" y="43604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16000" y="4632706"/>
            <a:ext cx="48768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Boards are telling their teams to add AI. Few of those teams have anyone who can make an agent behave under failure, attack or cost pressure.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48400" y="4632706"/>
            <a:ext cx="48768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UloX runs free in a browser and is live today. The route to market is the one Ulo has already walked: Nigeria, then West Africa, then the wider continent.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sp>
        <p:nvSpPr>
          <p:cNvPr id="3" name="Text 1"/>
          <p:cNvSpPr/>
          <p:nvPr/>
        </p:nvSpPr>
        <p:spPr>
          <a:xfrm>
            <a:off x="711200" y="546862"/>
            <a:ext cx="10769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spc="160" kern="0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ROADMAP AND THE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11200" y="756920"/>
            <a:ext cx="10769600" cy="1824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launched product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scalable platform.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1200" y="2336800"/>
            <a:ext cx="3437467" cy="1524000"/>
          </a:xfrm>
          <a:prstGeom prst="roundRect">
            <a:avLst>
              <a:gd name="adj" fmla="val 6667"/>
            </a:avLst>
          </a:prstGeom>
          <a:solidFill>
            <a:srgbClr val="17181B"/>
          </a:solidFill>
          <a:ln/>
        </p:spPr>
      </p:sp>
      <p:sp>
        <p:nvSpPr>
          <p:cNvPr id="6" name="Shape 4"/>
          <p:cNvSpPr/>
          <p:nvPr/>
        </p:nvSpPr>
        <p:spPr>
          <a:xfrm>
            <a:off x="711200" y="2336800"/>
            <a:ext cx="38100" cy="1524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7" name="Shape 5"/>
          <p:cNvSpPr/>
          <p:nvPr/>
        </p:nvSpPr>
        <p:spPr>
          <a:xfrm>
            <a:off x="711200" y="2336800"/>
            <a:ext cx="38100" cy="1524000"/>
          </a:xfrm>
          <a:prstGeom prst="rect">
            <a:avLst/>
          </a:prstGeom>
          <a:solidFill>
            <a:srgbClr val="3FD07A"/>
          </a:solidFill>
          <a:ln/>
        </p:spPr>
      </p:sp>
      <p:sp>
        <p:nvSpPr>
          <p:cNvPr id="8" name="Text 6"/>
          <p:cNvSpPr/>
          <p:nvPr/>
        </p:nvSpPr>
        <p:spPr>
          <a:xfrm>
            <a:off x="939800" y="2535174"/>
            <a:ext cx="298026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0–12 MONTHS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39800" y="2708148"/>
            <a:ext cx="298026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F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39800" y="3088640"/>
            <a:ext cx="298026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first learning hub. Deepen the gamification engine. Ship the agentic curriculum. Prove engagement.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7267" y="2336800"/>
            <a:ext cx="3437467" cy="1524000"/>
          </a:xfrm>
          <a:prstGeom prst="roundRect">
            <a:avLst>
              <a:gd name="adj" fmla="val 6667"/>
            </a:avLst>
          </a:prstGeom>
          <a:solidFill>
            <a:srgbClr val="17181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77267" y="2336800"/>
            <a:ext cx="38100" cy="1524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77267" y="2336800"/>
            <a:ext cx="38100" cy="1524000"/>
          </a:xfrm>
          <a:prstGeom prst="rect">
            <a:avLst/>
          </a:prstGeom>
          <a:solidFill>
            <a:srgbClr val="4EA8FF"/>
          </a:solidFill>
          <a:ln/>
        </p:spPr>
      </p:sp>
      <p:sp>
        <p:nvSpPr>
          <p:cNvPr id="14" name="Text 12"/>
          <p:cNvSpPr/>
          <p:nvPr/>
        </p:nvSpPr>
        <p:spPr>
          <a:xfrm>
            <a:off x="4605867" y="2535174"/>
            <a:ext cx="298026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12–24 MONTHS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605867" y="2708148"/>
            <a:ext cx="298026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05867" y="3088640"/>
            <a:ext cx="298026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premium subscribers. Sign institutional licences. Run enterprise and government reskilling on UloX.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3333" y="2336800"/>
            <a:ext cx="3437467" cy="1524000"/>
          </a:xfrm>
          <a:prstGeom prst="roundRect">
            <a:avLst>
              <a:gd name="adj" fmla="val 6667"/>
            </a:avLst>
          </a:prstGeom>
          <a:solidFill>
            <a:srgbClr val="17181B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3333" y="2336800"/>
            <a:ext cx="38100" cy="1524000"/>
          </a:xfrm>
          <a:prstGeom prst="rect">
            <a:avLst/>
          </a:prstGeom>
          <a:solidFill>
            <a:srgbClr val="2B2E32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3333" y="2336800"/>
            <a:ext cx="38100" cy="15240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71933" y="2535174"/>
            <a:ext cx="298026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b="1" spc="10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24–36 MONTHS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71933" y="2708148"/>
            <a:ext cx="298026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271933" y="3088640"/>
            <a:ext cx="298026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across Nigeria and West Africa. Grow the learning economy. Win large institutional contracts.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1200" y="4140200"/>
            <a:ext cx="10769600" cy="1549400"/>
          </a:xfrm>
          <a:prstGeom prst="roundRect">
            <a:avLst>
              <a:gd name="adj" fmla="val 6557"/>
            </a:avLst>
          </a:prstGeom>
          <a:solidFill>
            <a:srgbClr val="1E2024"/>
          </a:solidFill>
          <a:ln/>
        </p:spPr>
      </p:sp>
      <p:sp>
        <p:nvSpPr>
          <p:cNvPr id="24" name="Text 22"/>
          <p:cNvSpPr/>
          <p:nvPr/>
        </p:nvSpPr>
        <p:spPr>
          <a:xfrm>
            <a:off x="1016000" y="4335018"/>
            <a:ext cx="533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2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16000" y="4483608"/>
            <a:ext cx="3810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₦50,000,000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016000" y="5093462"/>
            <a:ext cx="381000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turn a launched product into a scalable learning platform.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02200" y="44023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37200" y="44958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29" name="Shape 27"/>
          <p:cNvSpPr/>
          <p:nvPr/>
        </p:nvSpPr>
        <p:spPr>
          <a:xfrm>
            <a:off x="5537200" y="44958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F5A524"/>
          </a:solidFill>
          <a:ln/>
        </p:spPr>
      </p:sp>
      <p:sp>
        <p:nvSpPr>
          <p:cNvPr id="30" name="Text 28"/>
          <p:cNvSpPr/>
          <p:nvPr/>
        </p:nvSpPr>
        <p:spPr>
          <a:xfrm>
            <a:off x="7239000" y="44076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Ulo learning hub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02200" y="47071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537200" y="48006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33" name="Shape 31"/>
          <p:cNvSpPr/>
          <p:nvPr/>
        </p:nvSpPr>
        <p:spPr>
          <a:xfrm>
            <a:off x="5537200" y="4800600"/>
            <a:ext cx="1143000" cy="88900"/>
          </a:xfrm>
          <a:prstGeom prst="roundRect">
            <a:avLst>
              <a:gd name="adj" fmla="val 42857"/>
            </a:avLst>
          </a:prstGeom>
          <a:solidFill>
            <a:srgbClr val="EE1B24"/>
          </a:solidFill>
          <a:ln/>
        </p:spPr>
      </p:sp>
      <p:sp>
        <p:nvSpPr>
          <p:cNvPr id="34" name="Text 32"/>
          <p:cNvSpPr/>
          <p:nvPr/>
        </p:nvSpPr>
        <p:spPr>
          <a:xfrm>
            <a:off x="7239000" y="47124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Product, gamification and the UloX curriculum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02200" y="50119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E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537200" y="51054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37" name="Shape 35"/>
          <p:cNvSpPr/>
          <p:nvPr/>
        </p:nvSpPr>
        <p:spPr>
          <a:xfrm>
            <a:off x="5537200" y="5105400"/>
            <a:ext cx="685800" cy="88900"/>
          </a:xfrm>
          <a:prstGeom prst="roundRect">
            <a:avLst>
              <a:gd name="adj" fmla="val 42857"/>
            </a:avLst>
          </a:prstGeom>
          <a:solidFill>
            <a:srgbClr val="4EA8FF"/>
          </a:solidFill>
          <a:ln/>
        </p:spPr>
      </p:sp>
      <p:sp>
        <p:nvSpPr>
          <p:cNvPr id="38" name="Text 36"/>
          <p:cNvSpPr/>
          <p:nvPr/>
        </p:nvSpPr>
        <p:spPr>
          <a:xfrm>
            <a:off x="7239000" y="50172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School, university and enterprise expansion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02200" y="5316728"/>
            <a:ext cx="558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9B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537200" y="5410200"/>
            <a:ext cx="1524000" cy="88900"/>
          </a:xfrm>
          <a:prstGeom prst="roundRect">
            <a:avLst>
              <a:gd name="adj" fmla="val 42857"/>
            </a:avLst>
          </a:prstGeom>
          <a:solidFill>
            <a:srgbClr val="17181B"/>
          </a:solidFill>
          <a:ln/>
        </p:spPr>
      </p:sp>
      <p:sp>
        <p:nvSpPr>
          <p:cNvPr id="41" name="Shape 39"/>
          <p:cNvSpPr/>
          <p:nvPr/>
        </p:nvSpPr>
        <p:spPr>
          <a:xfrm>
            <a:off x="5537200" y="5410200"/>
            <a:ext cx="457200" cy="88900"/>
          </a:xfrm>
          <a:prstGeom prst="roundRect">
            <a:avLst>
              <a:gd name="adj" fmla="val 42857"/>
            </a:avLst>
          </a:prstGeom>
          <a:solidFill>
            <a:srgbClr val="9B7BFF"/>
          </a:solidFill>
          <a:ln/>
        </p:spPr>
      </p:sp>
      <p:sp>
        <p:nvSpPr>
          <p:cNvPr id="42" name="Text 40"/>
          <p:cNvSpPr/>
          <p:nvPr/>
        </p:nvSpPr>
        <p:spPr>
          <a:xfrm>
            <a:off x="7239000" y="5322062"/>
            <a:ext cx="424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5A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Learn2Earn pilot and impact measurement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1200" y="6299200"/>
            <a:ext cx="10769600" cy="0"/>
          </a:xfrm>
          <a:prstGeom prst="line">
            <a:avLst/>
          </a:prstGeom>
          <a:noFill/>
          <a:ln w="12700">
            <a:solidFill>
              <a:srgbClr val="2B2E3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1200" y="6368796"/>
            <a:ext cx="508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spc="60" kern="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  ·  UloX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670800" y="63687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17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 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/>
          </a:solidFill>
          <a:ln/>
        </p:spPr>
      </p:sp>
      <p:pic>
        <p:nvPicPr>
          <p:cNvPr id="3" name="Image 0" descr="C:\Users\HP 830 G7 COREI5\OneDrive\Desktop\Composio\ulox\deck\assets\ikoyi-engag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F11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EE1B24"/>
          </a:solidFill>
          <a:ln/>
        </p:spPr>
      </p:sp>
      <p:sp>
        <p:nvSpPr>
          <p:cNvPr id="6" name="Shape 3"/>
          <p:cNvSpPr/>
          <p:nvPr/>
        </p:nvSpPr>
        <p:spPr>
          <a:xfrm>
            <a:off x="711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3FD07A"/>
          </a:solidFill>
          <a:ln/>
        </p:spPr>
      </p:sp>
      <p:sp>
        <p:nvSpPr>
          <p:cNvPr id="7" name="Shape 4"/>
          <p:cNvSpPr/>
          <p:nvPr/>
        </p:nvSpPr>
        <p:spPr>
          <a:xfrm>
            <a:off x="1092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52C98B"/>
          </a:solidFill>
          <a:ln/>
        </p:spPr>
      </p:sp>
      <p:sp>
        <p:nvSpPr>
          <p:cNvPr id="8" name="Shape 5"/>
          <p:cNvSpPr/>
          <p:nvPr/>
        </p:nvSpPr>
        <p:spPr>
          <a:xfrm>
            <a:off x="1473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4EA8FF"/>
          </a:solidFill>
          <a:ln/>
        </p:spPr>
      </p:sp>
      <p:sp>
        <p:nvSpPr>
          <p:cNvPr id="9" name="Shape 6"/>
          <p:cNvSpPr/>
          <p:nvPr/>
        </p:nvSpPr>
        <p:spPr>
          <a:xfrm>
            <a:off x="1854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7B8EFF"/>
          </a:solidFill>
          <a:ln/>
        </p:spPr>
      </p:sp>
      <p:sp>
        <p:nvSpPr>
          <p:cNvPr id="10" name="Shape 7"/>
          <p:cNvSpPr/>
          <p:nvPr/>
        </p:nvSpPr>
        <p:spPr>
          <a:xfrm>
            <a:off x="2235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9B7BFF"/>
          </a:solidFill>
          <a:ln/>
        </p:spPr>
      </p:sp>
      <p:sp>
        <p:nvSpPr>
          <p:cNvPr id="11" name="Shape 8"/>
          <p:cNvSpPr/>
          <p:nvPr/>
        </p:nvSpPr>
        <p:spPr>
          <a:xfrm>
            <a:off x="2616200" y="1219200"/>
            <a:ext cx="254000" cy="76200"/>
          </a:xfrm>
          <a:prstGeom prst="roundRect">
            <a:avLst>
              <a:gd name="adj" fmla="val 50000"/>
            </a:avLst>
          </a:prstGeom>
          <a:solidFill>
            <a:srgbClr val="B57BFF"/>
          </a:solidFill>
          <a:ln/>
        </p:spPr>
      </p:sp>
      <p:sp>
        <p:nvSpPr>
          <p:cNvPr id="12" name="Text 9"/>
          <p:cNvSpPr/>
          <p:nvPr/>
        </p:nvSpPr>
        <p:spPr>
          <a:xfrm>
            <a:off x="711200" y="1541272"/>
            <a:ext cx="9398000" cy="1729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learning is not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11200" y="2125472"/>
            <a:ext cx="9398000" cy="1729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consuming more content.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711200" y="2760472"/>
            <a:ext cx="9398000" cy="1729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becoming more capable.</a:t>
            </a:r>
            <a:endParaRPr lang="en-US" sz="3800" dirty="0"/>
          </a:p>
        </p:txBody>
      </p:sp>
      <p:sp>
        <p:nvSpPr>
          <p:cNvPr id="15" name="Shape 12"/>
          <p:cNvSpPr/>
          <p:nvPr/>
        </p:nvSpPr>
        <p:spPr>
          <a:xfrm>
            <a:off x="711200" y="3810000"/>
            <a:ext cx="1397000" cy="0"/>
          </a:xfrm>
          <a:prstGeom prst="line">
            <a:avLst/>
          </a:prstGeom>
          <a:noFill/>
          <a:ln w="25400">
            <a:solidFill>
              <a:srgbClr val="EE1B2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11200" y="4043172"/>
            <a:ext cx="6604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exist to equip people with know-how to maximise their potential on earth.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11200" y="4601972"/>
            <a:ext cx="6604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workforce for the future.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11200" y="5351018"/>
            <a:ext cx="6604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spc="130" kern="0" dirty="0">
                <a:solidFill>
                  <a:srgbClr val="B9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now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11200" y="5535168"/>
            <a:ext cx="6604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EE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www.ulox.verionx.org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670800" y="533146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VerionX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670800" y="5632196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B9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ITOLS is the intellectual property of Elijah Moses.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VerionX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VerionX — UloX 2026</dc:title>
  <dc:subject>PptxGenJS Presentation</dc:subject>
  <dc:creator>VerionX</dc:creator>
  <cp:lastModifiedBy>VerionX</cp:lastModifiedBy>
  <cp:revision>1</cp:revision>
  <dcterms:created xsi:type="dcterms:W3CDTF">2026-10-20T20:13:47Z</dcterms:created>
  <dcterms:modified xsi:type="dcterms:W3CDTF">2026-10-20T20:13:47Z</dcterms:modified>
</cp:coreProperties>
</file>